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CC867-5F20-4A7D-A0DD-868F54C90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A7D76C-0A3F-4D61-BF54-DF34BFF67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79F7CB-DD6B-435A-B347-9F1164D4B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E5A6-1726-49EC-9101-5B3A75AF613C}" type="datetimeFigureOut">
              <a:rPr lang="es-AR" smtClean="0"/>
              <a:t>31/3/2020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F2EDC4-F08B-4D86-8A3D-1B0A1BF8B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BCB2E3-15A2-4D6D-9EB4-5EED042C6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54D0D-4C92-4A1D-AA7A-200B6A011AC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2411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97EE1-1E8D-40D4-B333-6A033701F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F3512F-8EB5-4B56-A180-8B61EFC3E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ACEBCD-1E77-4E7D-8ADC-8FD7A04C3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E5A6-1726-49EC-9101-5B3A75AF613C}" type="datetimeFigureOut">
              <a:rPr lang="es-AR" smtClean="0"/>
              <a:t>31/3/2020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B07835-1747-4D27-82E3-EE2FA0E5A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B16498-F17D-4925-B4E4-85618A2B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54D0D-4C92-4A1D-AA7A-200B6A011AC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2654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D829F-6502-425F-AA37-38BD9A98E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0B2F5F-AA4C-47A4-8C4F-0F5A9D28F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04AEC0-5B87-4958-AF15-3EADD47C5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E5A6-1726-49EC-9101-5B3A75AF613C}" type="datetimeFigureOut">
              <a:rPr lang="es-AR" smtClean="0"/>
              <a:t>31/3/2020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CCE939-7D7B-40A1-A328-FCF38687C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3A8A64-8940-4065-91E6-8575F2941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54D0D-4C92-4A1D-AA7A-200B6A011AC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24651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74974-B45F-4EF8-9A25-6AD0BE15A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231444-1266-490A-8E89-9D6A64A56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38D930-5238-49E5-89EB-CF86E4F69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31C67E-422D-48F7-A017-D325C60CC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E5A6-1726-49EC-9101-5B3A75AF613C}" type="datetimeFigureOut">
              <a:rPr lang="es-AR" smtClean="0"/>
              <a:t>31/3/2020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A7A9A8-F75F-4745-8536-50D2C538F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59573E-C2A6-4C78-A39A-5F1782A24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54D0D-4C92-4A1D-AA7A-200B6A011AC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6078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55C52-6D66-47C6-8685-DB361B1D7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481974-55FA-405C-8CA7-A75CFF074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F9EB2E-3475-49ED-A5CF-4A9D7D541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17DB7CE-D473-4836-A53E-CAFB1959D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56504D6-8AE2-434F-B87B-31F35F7F16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391BB25-FC56-4C3F-8F9D-7C4FE3677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E5A6-1726-49EC-9101-5B3A75AF613C}" type="datetimeFigureOut">
              <a:rPr lang="es-AR" smtClean="0"/>
              <a:t>31/3/2020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317A5B8-4A78-44CC-BF39-DAC00EC14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245A0A6-8FD2-42F1-9F58-08AE4DF94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54D0D-4C92-4A1D-AA7A-200B6A011AC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38882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510AF-A391-4D5C-95C5-530511B06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B73A8B4-07A9-489D-A80F-76D43F00C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E5A6-1726-49EC-9101-5B3A75AF613C}" type="datetimeFigureOut">
              <a:rPr lang="es-AR" smtClean="0"/>
              <a:t>31/3/2020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041FCA2-2D84-42D8-B2CF-771B4F7A0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0DDD93-C789-4022-9ECB-AF0C4CD20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54D0D-4C92-4A1D-AA7A-200B6A011AC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66556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6FCBFB3-5656-4CBE-B06F-0CF195C16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E5A6-1726-49EC-9101-5B3A75AF613C}" type="datetimeFigureOut">
              <a:rPr lang="es-AR" smtClean="0"/>
              <a:t>31/3/2020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AC08F5B-430B-4527-864C-A1829ABF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23B53B-42B6-43DF-A396-5961896A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54D0D-4C92-4A1D-AA7A-200B6A011AC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6112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8797B1-75F0-45AC-9C48-E8198F2B7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B9E0ED-58A9-464E-B9F5-DB437D87D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B01EA09-89B4-466B-9EA4-96A0B3A42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2D0F6C-B961-48A1-A36A-B4D47449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E5A6-1726-49EC-9101-5B3A75AF613C}" type="datetimeFigureOut">
              <a:rPr lang="es-AR" smtClean="0"/>
              <a:t>31/3/2020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B638EC-4671-46B9-8C8F-9098DF15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7768DD-E3C2-47DA-A63D-726180338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54D0D-4C92-4A1D-AA7A-200B6A011AC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94916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1C269-F6DE-4FED-9339-E45B3CF15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A39158D-822A-4D25-849C-F14759A51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3328DF-B374-454C-AD54-1DA1A8001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3C9CAE-8B47-4B7A-B5A5-274D7A72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E5A6-1726-49EC-9101-5B3A75AF613C}" type="datetimeFigureOut">
              <a:rPr lang="es-AR" smtClean="0"/>
              <a:t>31/3/2020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A9C9F6-3F32-4AAE-A035-F22DC282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21F937-A145-4F83-9D71-B4872DBCC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54D0D-4C92-4A1D-AA7A-200B6A011AC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76259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1241C9-D7F0-4BDA-A826-67598C7E9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71B8FD-5EDB-4EA1-A719-51F4DCC7B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4295E0-8862-4392-B744-C242E87C1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E5A6-1726-49EC-9101-5B3A75AF613C}" type="datetimeFigureOut">
              <a:rPr lang="es-AR" smtClean="0"/>
              <a:t>31/3/2020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554B0D-5E07-435A-9050-0606030C2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38B8D0-26B4-44E0-9E8A-D8394A2CE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54D0D-4C92-4A1D-AA7A-200B6A011AC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18473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A96B356-4177-4D4D-83CC-B34D2A2349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43FF6DA-AA01-457D-A888-F552DC53B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1944A9-8BBF-47FA-A965-3723840F5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E5A6-1726-49EC-9101-5B3A75AF613C}" type="datetimeFigureOut">
              <a:rPr lang="es-AR" smtClean="0"/>
              <a:t>31/3/2020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B855C8-4055-41FD-B764-FCED12457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2DDA20-6A5D-484B-8F08-C47707D1C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54D0D-4C92-4A1D-AA7A-200B6A011AC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99662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0639875-EF66-4DDF-A16E-33302EEA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C43097-098D-490D-849B-AD2278D0F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B61599-140F-4F21-8037-D9E1C64A2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5E5A6-1726-49EC-9101-5B3A75AF613C}" type="datetimeFigureOut">
              <a:rPr lang="es-AR" smtClean="0"/>
              <a:t>31/3/2020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157927-B175-443C-B88A-B485921B1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F0BEE-CD67-4788-803B-A60A8012F1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54D0D-4C92-4A1D-AA7A-200B6A011AC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34747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5D791-9B86-4695-BA3E-509C5C58E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8949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419" b="1" dirty="0">
                <a:latin typeface="Speedee" panose="020B0603030502020204" pitchFamily="34" charset="0"/>
              </a:rPr>
              <a:t>DIGITAL HOUSE</a:t>
            </a:r>
            <a:br>
              <a:rPr lang="es-419" b="1" dirty="0">
                <a:latin typeface="Speedee" panose="020B0603030502020204" pitchFamily="34" charset="0"/>
              </a:rPr>
            </a:br>
            <a:br>
              <a:rPr lang="es-419" b="1" dirty="0">
                <a:latin typeface="Speedee" panose="020B0603030502020204" pitchFamily="34" charset="0"/>
              </a:rPr>
            </a:br>
            <a:r>
              <a:rPr lang="es-419" b="1" u="sng" dirty="0">
                <a:latin typeface="Speedee" panose="020B0603030502020204" pitchFamily="34" charset="0"/>
              </a:rPr>
              <a:t>DATA SCIENCE - DESAFÍO 1</a:t>
            </a:r>
            <a:br>
              <a:rPr lang="es-419" b="1" u="sng" dirty="0">
                <a:latin typeface="Speedee" panose="020B0603030502020204" pitchFamily="34" charset="0"/>
              </a:rPr>
            </a:br>
            <a:br>
              <a:rPr lang="es-419" b="1" u="sng" dirty="0">
                <a:latin typeface="Speedee" panose="020B0603030502020204" pitchFamily="34" charset="0"/>
              </a:rPr>
            </a:br>
            <a:r>
              <a:rPr lang="es-419" b="1" dirty="0">
                <a:latin typeface="Speedee" panose="020B0603030502020204" pitchFamily="34" charset="0"/>
              </a:rPr>
              <a:t>GRUPO 3</a:t>
            </a:r>
            <a:br>
              <a:rPr lang="es-419" b="1" dirty="0">
                <a:latin typeface="Speedee" panose="020B0603030502020204" pitchFamily="34" charset="0"/>
              </a:rPr>
            </a:br>
            <a:br>
              <a:rPr lang="es-419" b="1" dirty="0">
                <a:latin typeface="Speedee" panose="020B0603030502020204" pitchFamily="34" charset="0"/>
              </a:rPr>
            </a:br>
            <a:r>
              <a:rPr lang="es-419" sz="2700" i="1" dirty="0">
                <a:latin typeface="Speedee" panose="020B0603030502020204" pitchFamily="34" charset="0"/>
              </a:rPr>
              <a:t>David </a:t>
            </a:r>
            <a:r>
              <a:rPr lang="es-419" sz="2700" i="1" dirty="0" err="1">
                <a:latin typeface="Speedee" panose="020B0603030502020204" pitchFamily="34" charset="0"/>
              </a:rPr>
              <a:t>Gagliano</a:t>
            </a:r>
            <a:br>
              <a:rPr lang="es-419" sz="2700" i="1" dirty="0">
                <a:latin typeface="Speedee" panose="020B0603030502020204" pitchFamily="34" charset="0"/>
              </a:rPr>
            </a:br>
            <a:r>
              <a:rPr lang="es-419" sz="2700" i="1" dirty="0">
                <a:latin typeface="Speedee" panose="020B0603030502020204" pitchFamily="34" charset="0"/>
              </a:rPr>
              <a:t>Alejandro </a:t>
            </a:r>
            <a:r>
              <a:rPr lang="es-419" sz="2700" i="1" dirty="0" err="1">
                <a:latin typeface="Speedee" panose="020B0603030502020204" pitchFamily="34" charset="0"/>
              </a:rPr>
              <a:t>Garavano</a:t>
            </a:r>
            <a:br>
              <a:rPr lang="es-419" sz="2700" i="1" dirty="0">
                <a:latin typeface="Speedee" panose="020B0603030502020204" pitchFamily="34" charset="0"/>
              </a:rPr>
            </a:br>
            <a:r>
              <a:rPr lang="es-419" sz="2700" i="1" dirty="0">
                <a:latin typeface="Speedee" panose="020B0603030502020204" pitchFamily="34" charset="0"/>
              </a:rPr>
              <a:t>Santiago López Mañan</a:t>
            </a:r>
            <a:br>
              <a:rPr lang="es-419" sz="2700" i="1" dirty="0">
                <a:latin typeface="Speedee" panose="020B0603030502020204" pitchFamily="34" charset="0"/>
              </a:rPr>
            </a:br>
            <a:r>
              <a:rPr lang="es-419" sz="2700" i="1" dirty="0">
                <a:latin typeface="Speedee" panose="020B0603030502020204" pitchFamily="34" charset="0"/>
              </a:rPr>
              <a:t>Diego </a:t>
            </a:r>
            <a:r>
              <a:rPr lang="es-419" sz="2700" i="1" dirty="0" err="1">
                <a:latin typeface="Speedee" panose="020B0603030502020204" pitchFamily="34" charset="0"/>
              </a:rPr>
              <a:t>Pais</a:t>
            </a:r>
            <a:br>
              <a:rPr lang="es-419" sz="2700" i="1" dirty="0">
                <a:latin typeface="Speedee" panose="020B0603030502020204" pitchFamily="34" charset="0"/>
              </a:rPr>
            </a:br>
            <a:r>
              <a:rPr lang="es-419" sz="2700" i="1" dirty="0">
                <a:latin typeface="Speedee" panose="020B0603030502020204" pitchFamily="34" charset="0"/>
              </a:rPr>
              <a:t>Franco </a:t>
            </a:r>
            <a:r>
              <a:rPr lang="es-419" sz="2700" i="1" dirty="0" err="1">
                <a:latin typeface="Speedee" panose="020B0603030502020204" pitchFamily="34" charset="0"/>
              </a:rPr>
              <a:t>Scavini</a:t>
            </a:r>
            <a:endParaRPr lang="es-AR" b="1" dirty="0">
              <a:latin typeface="Speedee" panose="020B060303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409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05A242B-930F-4884-A9DD-790687920D66}"/>
              </a:ext>
            </a:extLst>
          </p:cNvPr>
          <p:cNvCxnSpPr/>
          <p:nvPr/>
        </p:nvCxnSpPr>
        <p:spPr>
          <a:xfrm>
            <a:off x="158620" y="774441"/>
            <a:ext cx="1195251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n 6" descr="Imagen que contiene alimentos&#10;&#10;Descripción generada automáticamente">
            <a:extLst>
              <a:ext uri="{FF2B5EF4-FFF2-40B4-BE49-F238E27FC236}">
                <a16:creationId xmlns:a16="http://schemas.microsoft.com/office/drawing/2014/main" id="{1FD9C125-7797-4851-BE1D-DD4482189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8039" y="79311"/>
            <a:ext cx="855341" cy="62935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054B912-4E70-42F7-A819-25D04A7F804E}"/>
              </a:ext>
            </a:extLst>
          </p:cNvPr>
          <p:cNvSpPr txBox="1"/>
          <p:nvPr/>
        </p:nvSpPr>
        <p:spPr>
          <a:xfrm>
            <a:off x="158620" y="101598"/>
            <a:ext cx="7959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200" b="1" dirty="0">
                <a:latin typeface="Speedee" panose="020B0603030502020204" pitchFamily="34" charset="0"/>
              </a:rPr>
              <a:t>Análisis Estructural de los Datos</a:t>
            </a:r>
            <a:endParaRPr lang="es-AR" sz="3200" b="1" dirty="0">
              <a:latin typeface="Speedee" panose="020B06030305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5047192-D539-4A5E-846B-B7308448A640}"/>
              </a:ext>
            </a:extLst>
          </p:cNvPr>
          <p:cNvSpPr txBox="1"/>
          <p:nvPr/>
        </p:nvSpPr>
        <p:spPr>
          <a:xfrm>
            <a:off x="158620" y="1120676"/>
            <a:ext cx="1152330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peedee" panose="020B0603030502020204" pitchFamily="34" charset="0"/>
                <a:cs typeface="Calibri"/>
              </a:rPr>
              <a:t>En general, el </a:t>
            </a:r>
            <a:r>
              <a:rPr lang="en-US" sz="2400" b="1" dirty="0">
                <a:latin typeface="Speedee" panose="020B0603030502020204" pitchFamily="34" charset="0"/>
                <a:cs typeface="Calibri"/>
              </a:rPr>
              <a:t>set de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tenía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una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estructura</a:t>
            </a:r>
            <a:r>
              <a:rPr lang="en-US" sz="2400" b="1" dirty="0">
                <a:latin typeface="Speedee" panose="020B0603030502020204" pitchFamily="34" charset="0"/>
                <a:cs typeface="Calibri"/>
              </a:rPr>
              <a:t> bien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definida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.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Casi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todas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los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contaban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con una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identificación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clara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, 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excepción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de un solo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dato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, que lo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asumimos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como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 un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dato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ID y se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comporta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de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manera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similar a un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índice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.</a:t>
            </a:r>
          </a:p>
          <a:p>
            <a:endParaRPr lang="en-US" sz="2400" dirty="0">
              <a:latin typeface="Speedee" panose="020B0603030502020204" pitchFamily="34" charset="0"/>
              <a:cs typeface="Calibri"/>
            </a:endParaRPr>
          </a:p>
          <a:p>
            <a:r>
              <a:rPr lang="en-US" sz="2400" dirty="0">
                <a:latin typeface="Speedee" panose="020B0603030502020204" pitchFamily="34" charset="0"/>
                <a:cs typeface="Calibri"/>
              </a:rPr>
              <a:t>En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cuanto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a los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tipos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de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,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tenemos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de tipo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texto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y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numéricos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(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enteros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y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reales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)</a:t>
            </a:r>
          </a:p>
          <a:p>
            <a:endParaRPr lang="en-US" sz="2400" dirty="0">
              <a:latin typeface="Speedee" panose="020B0603030502020204" pitchFamily="34" charset="0"/>
              <a:cs typeface="Calibri"/>
            </a:endParaRPr>
          </a:p>
          <a:p>
            <a:r>
              <a:rPr lang="en-US" sz="2400" dirty="0">
                <a:latin typeface="Speedee" panose="020B0603030502020204" pitchFamily="34" charset="0"/>
                <a:cs typeface="Calibri"/>
              </a:rPr>
              <a:t>Entre los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de tipo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texto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, hay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algunos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que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corresponden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a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b="1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cualitativos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, es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decir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,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que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nos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permiten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etiquetar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y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también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agrupar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el resto de los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para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poder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hacer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distintos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análisis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.</a:t>
            </a:r>
          </a:p>
          <a:p>
            <a:endParaRPr lang="en-US" sz="2400" dirty="0">
              <a:latin typeface="Speedee" panose="020B0603030502020204" pitchFamily="34" charset="0"/>
            </a:endParaRPr>
          </a:p>
          <a:p>
            <a:r>
              <a:rPr lang="en-US" sz="2400" dirty="0">
                <a:latin typeface="Speedee" panose="020B0603030502020204" pitchFamily="34" charset="0"/>
                <a:cs typeface="Calibri"/>
              </a:rPr>
              <a:t>Entre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estos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tipos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de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tenemos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por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ej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.: </a:t>
            </a:r>
            <a:r>
              <a:rPr lang="en-US" sz="2400" i="1" dirty="0">
                <a:latin typeface="Speedee" panose="020B0603030502020204" pitchFamily="34" charset="0"/>
                <a:cs typeface="Calibri"/>
              </a:rPr>
              <a:t>operation, </a:t>
            </a:r>
            <a:r>
              <a:rPr lang="en-US" sz="2400" i="1" dirty="0" err="1">
                <a:latin typeface="Speedee" panose="020B0603030502020204" pitchFamily="34" charset="0"/>
                <a:cs typeface="Calibri"/>
              </a:rPr>
              <a:t>property_type</a:t>
            </a:r>
            <a:r>
              <a:rPr lang="en-US" sz="2400" i="1" dirty="0">
                <a:latin typeface="Speedee" panose="020B0603030502020204" pitchFamily="34" charset="0"/>
                <a:cs typeface="Calibri"/>
              </a:rPr>
              <a:t>, </a:t>
            </a:r>
            <a:r>
              <a:rPr lang="en-US" sz="2400" i="1" dirty="0" err="1">
                <a:latin typeface="Speedee" panose="020B0603030502020204" pitchFamily="34" charset="0"/>
                <a:cs typeface="Calibri"/>
              </a:rPr>
              <a:t>country_name</a:t>
            </a:r>
            <a:r>
              <a:rPr lang="en-US" sz="2400" i="1" dirty="0">
                <a:latin typeface="Speedee" panose="020B0603030502020204" pitchFamily="34" charset="0"/>
                <a:cs typeface="Calibri"/>
              </a:rPr>
              <a:t>, </a:t>
            </a:r>
            <a:r>
              <a:rPr lang="en-US" sz="2400" i="1" dirty="0" err="1">
                <a:latin typeface="Speedee" panose="020B0603030502020204" pitchFamily="34" charset="0"/>
                <a:cs typeface="Calibri"/>
              </a:rPr>
              <a:t>state_name</a:t>
            </a:r>
            <a:r>
              <a:rPr lang="en-US" sz="2400" i="1" dirty="0">
                <a:latin typeface="Speedee" panose="020B0603030502020204" pitchFamily="34" charset="0"/>
                <a:cs typeface="Calibri"/>
              </a:rPr>
              <a:t> y </a:t>
            </a:r>
            <a:r>
              <a:rPr lang="en-US" sz="2400" i="1" dirty="0" err="1">
                <a:latin typeface="Speedee" panose="020B0603030502020204" pitchFamily="34" charset="0"/>
                <a:cs typeface="Calibri"/>
              </a:rPr>
              <a:t>place_name</a:t>
            </a:r>
            <a:endParaRPr lang="en-US" sz="2400" i="1" dirty="0">
              <a:latin typeface="Speedee" panose="020B0603030502020204" pitchFamily="34" charset="0"/>
              <a:cs typeface="Calibri"/>
            </a:endParaRPr>
          </a:p>
          <a:p>
            <a:endParaRPr lang="en-US" sz="2400" dirty="0">
              <a:latin typeface="Speedee" panose="020B0603030502020204" pitchFamily="34" charset="0"/>
              <a:cs typeface="Calibri"/>
            </a:endParaRPr>
          </a:p>
          <a:p>
            <a:endParaRPr lang="es-AR" sz="2400" dirty="0">
              <a:latin typeface="Speedee" panose="020B060303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68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05A242B-930F-4884-A9DD-790687920D66}"/>
              </a:ext>
            </a:extLst>
          </p:cNvPr>
          <p:cNvCxnSpPr/>
          <p:nvPr/>
        </p:nvCxnSpPr>
        <p:spPr>
          <a:xfrm>
            <a:off x="158620" y="774441"/>
            <a:ext cx="1195251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n 6" descr="Imagen que contiene alimentos&#10;&#10;Descripción generada automáticamente">
            <a:extLst>
              <a:ext uri="{FF2B5EF4-FFF2-40B4-BE49-F238E27FC236}">
                <a16:creationId xmlns:a16="http://schemas.microsoft.com/office/drawing/2014/main" id="{1FD9C125-7797-4851-BE1D-DD4482189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8039" y="79311"/>
            <a:ext cx="855341" cy="6293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A2BB9D6-8E50-49FD-A710-18C52773468C}"/>
              </a:ext>
            </a:extLst>
          </p:cNvPr>
          <p:cNvSpPr txBox="1"/>
          <p:nvPr/>
        </p:nvSpPr>
        <p:spPr>
          <a:xfrm>
            <a:off x="158620" y="101598"/>
            <a:ext cx="7959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200" b="1" dirty="0">
                <a:latin typeface="Speedee" panose="020B0603030502020204" pitchFamily="34" charset="0"/>
              </a:rPr>
              <a:t>Completitud de los Datos</a:t>
            </a:r>
            <a:endParaRPr lang="es-AR" sz="3200" b="1" dirty="0">
              <a:latin typeface="Speedee" panose="020B06030305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BD69F6D-22D8-4E5E-BC9A-92F7651DCAD6}"/>
              </a:ext>
            </a:extLst>
          </p:cNvPr>
          <p:cNvSpPr txBox="1"/>
          <p:nvPr/>
        </p:nvSpPr>
        <p:spPr>
          <a:xfrm>
            <a:off x="158620" y="1120676"/>
            <a:ext cx="1152330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Encontramos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que los 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correspondientes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al tipo de </a:t>
            </a:r>
            <a:r>
              <a:rPr lang="en-US" sz="2400" b="1" dirty="0" err="1">
                <a:latin typeface="Speedee" panose="020B0603030502020204" pitchFamily="34" charset="0"/>
                <a:cs typeface="Calibri" panose="020F0502020204030204"/>
              </a:rPr>
              <a:t>dato</a:t>
            </a:r>
            <a:r>
              <a:rPr lang="en-US" sz="2400" b="1" dirty="0">
                <a:latin typeface="Speedee" panose="020B0603030502020204" pitchFamily="34" charset="0"/>
                <a:cs typeface="Calibri" panose="020F0502020204030204"/>
              </a:rPr>
              <a:t> </a:t>
            </a:r>
            <a:r>
              <a:rPr lang="en-US" sz="2400" b="1" dirty="0" err="1">
                <a:latin typeface="Speedee" panose="020B0603030502020204" pitchFamily="34" charset="0"/>
                <a:cs typeface="Calibri" panose="020F0502020204030204"/>
              </a:rPr>
              <a:t>texto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tenían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un </a:t>
            </a:r>
            <a:r>
              <a:rPr lang="en-US" sz="2400" b="1" dirty="0">
                <a:latin typeface="Speedee" panose="020B0603030502020204" pitchFamily="34" charset="0"/>
                <a:cs typeface="Calibri" panose="020F0502020204030204"/>
              </a:rPr>
              <a:t>alto </a:t>
            </a:r>
            <a:r>
              <a:rPr lang="en-US" sz="2400" b="1" dirty="0" err="1">
                <a:latin typeface="Speedee" panose="020B0603030502020204" pitchFamily="34" charset="0"/>
                <a:cs typeface="Calibri" panose="020F0502020204030204"/>
              </a:rPr>
              <a:t>grado</a:t>
            </a:r>
            <a:r>
              <a:rPr lang="en-US" sz="2400" b="1" dirty="0">
                <a:latin typeface="Speedee" panose="020B0603030502020204" pitchFamily="34" charset="0"/>
                <a:cs typeface="Calibri" panose="020F0502020204030204"/>
              </a:rPr>
              <a:t> de </a:t>
            </a:r>
            <a:r>
              <a:rPr lang="en-US" sz="2400" b="1" dirty="0" err="1">
                <a:latin typeface="Speedee" panose="020B0603030502020204" pitchFamily="34" charset="0"/>
                <a:cs typeface="Calibri" panose="020F0502020204030204"/>
              </a:rPr>
              <a:t>completitud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 (superior al 95% 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en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todos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los 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casos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).</a:t>
            </a:r>
          </a:p>
          <a:p>
            <a:endParaRPr lang="en-US" sz="2400" dirty="0">
              <a:latin typeface="Speedee" panose="020B0603030502020204" pitchFamily="34" charset="0"/>
              <a:cs typeface="Calibri" panose="020F0502020204030204"/>
            </a:endParaRPr>
          </a:p>
          <a:p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La </a:t>
            </a:r>
            <a:r>
              <a:rPr lang="en-US" sz="2400" b="1" dirty="0">
                <a:latin typeface="Speedee" panose="020B0603030502020204" pitchFamily="34" charset="0"/>
                <a:cs typeface="Calibri" panose="020F0502020204030204"/>
              </a:rPr>
              <a:t>mayor </a:t>
            </a:r>
            <a:r>
              <a:rPr lang="en-US" sz="2400" b="1" dirty="0" err="1">
                <a:latin typeface="Speedee" panose="020B0603030502020204" pitchFamily="34" charset="0"/>
                <a:cs typeface="Calibri" panose="020F0502020204030204"/>
              </a:rPr>
              <a:t>parte</a:t>
            </a:r>
            <a:r>
              <a:rPr lang="en-US" sz="2400" b="1" dirty="0">
                <a:latin typeface="Speedee" panose="020B0603030502020204" pitchFamily="34" charset="0"/>
                <a:cs typeface="Calibri" panose="020F0502020204030204"/>
              </a:rPr>
              <a:t> de </a:t>
            </a:r>
            <a:r>
              <a:rPr lang="en-US" sz="2400" b="1" dirty="0" err="1">
                <a:latin typeface="Speedee" panose="020B0603030502020204" pitchFamily="34" charset="0"/>
                <a:cs typeface="Calibri" panose="020F0502020204030204"/>
              </a:rPr>
              <a:t>faltantes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se 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daban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en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los </a:t>
            </a:r>
            <a:r>
              <a:rPr lang="en-US" sz="2400" b="1" dirty="0" err="1">
                <a:latin typeface="Speedee" panose="020B0603030502020204" pitchFamily="34" charset="0"/>
                <a:cs typeface="Calibri" panose="020F0502020204030204"/>
              </a:rPr>
              <a:t>campos</a:t>
            </a:r>
            <a:r>
              <a:rPr lang="en-US" sz="2400" b="1" dirty="0">
                <a:latin typeface="Speedee" panose="020B0603030502020204" pitchFamily="34" charset="0"/>
                <a:cs typeface="Calibri" panose="020F0502020204030204"/>
              </a:rPr>
              <a:t> </a:t>
            </a:r>
            <a:r>
              <a:rPr lang="en-US" sz="2400" b="1" dirty="0" err="1">
                <a:latin typeface="Speedee" panose="020B0603030502020204" pitchFamily="34" charset="0"/>
                <a:cs typeface="Calibri" panose="020F0502020204030204"/>
              </a:rPr>
              <a:t>númericos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. 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Esto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último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 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resulta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</a:t>
            </a:r>
            <a:r>
              <a:rPr lang="en-US" sz="2400" b="1" dirty="0" err="1">
                <a:latin typeface="Speedee" panose="020B0603030502020204" pitchFamily="34" charset="0"/>
                <a:cs typeface="Calibri" panose="020F0502020204030204"/>
              </a:rPr>
              <a:t>problemático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para la 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finalidad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del 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proyecto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ya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que con </a:t>
            </a:r>
            <a:r>
              <a:rPr lang="en-US" sz="2400" b="1" dirty="0" err="1">
                <a:latin typeface="Speedee" panose="020B0603030502020204" pitchFamily="34" charset="0"/>
                <a:cs typeface="Calibri" panose="020F0502020204030204"/>
              </a:rPr>
              <a:t>pocos</a:t>
            </a:r>
            <a:r>
              <a:rPr lang="en-US" sz="2400" b="1" dirty="0">
                <a:latin typeface="Speedee" panose="020B0603030502020204" pitchFamily="34" charset="0"/>
                <a:cs typeface="Calibri" panose="020F0502020204030204"/>
              </a:rPr>
              <a:t> </a:t>
            </a:r>
            <a:r>
              <a:rPr lang="en-US" sz="2400" b="1" dirty="0" err="1">
                <a:latin typeface="Speedee" panose="020B0603030502020204" pitchFamily="34" charset="0"/>
                <a:cs typeface="Calibri" panose="020F0502020204030204"/>
              </a:rPr>
              <a:t>datos</a:t>
            </a:r>
            <a:r>
              <a:rPr lang="en-US" sz="2400" b="1" dirty="0">
                <a:latin typeface="Speedee" panose="020B0603030502020204" pitchFamily="34" charset="0"/>
                <a:cs typeface="Calibri" panose="020F0502020204030204"/>
              </a:rPr>
              <a:t> de </a:t>
            </a:r>
            <a:r>
              <a:rPr lang="en-US" sz="2400" b="1" dirty="0" err="1">
                <a:latin typeface="Speedee" panose="020B0603030502020204" pitchFamily="34" charset="0"/>
                <a:cs typeface="Calibri" panose="020F0502020204030204"/>
              </a:rPr>
              <a:t>precios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, no 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será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posible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 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poder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predecir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con 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mucha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 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precisión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el 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precio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por el metro 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cuadrado</a:t>
            </a:r>
            <a:r>
              <a:rPr lang="en-US" sz="2400" dirty="0">
                <a:latin typeface="Speedee" panose="020B0603030502020204" pitchFamily="34" charset="0"/>
                <a:cs typeface="Calibri" panose="020F0502020204030204"/>
              </a:rPr>
              <a:t> para una </a:t>
            </a:r>
            <a:r>
              <a:rPr lang="en-US" sz="2400" dirty="0" err="1">
                <a:latin typeface="Speedee" panose="020B0603030502020204" pitchFamily="34" charset="0"/>
                <a:cs typeface="Calibri" panose="020F0502020204030204"/>
              </a:rPr>
              <a:t>propiedad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.</a:t>
            </a:r>
          </a:p>
          <a:p>
            <a:endParaRPr lang="en-US" sz="2400" dirty="0">
              <a:latin typeface="Speedee" panose="020B0603030502020204" pitchFamily="34" charset="0"/>
              <a:cs typeface="Calibri"/>
            </a:endParaRPr>
          </a:p>
          <a:p>
            <a:endParaRPr lang="es-AR" sz="2400" dirty="0">
              <a:latin typeface="Speedee" panose="020B060303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450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05A242B-930F-4884-A9DD-790687920D66}"/>
              </a:ext>
            </a:extLst>
          </p:cNvPr>
          <p:cNvCxnSpPr/>
          <p:nvPr/>
        </p:nvCxnSpPr>
        <p:spPr>
          <a:xfrm>
            <a:off x="158620" y="774441"/>
            <a:ext cx="1195251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n 6" descr="Imagen que contiene alimentos&#10;&#10;Descripción generada automáticamente">
            <a:extLst>
              <a:ext uri="{FF2B5EF4-FFF2-40B4-BE49-F238E27FC236}">
                <a16:creationId xmlns:a16="http://schemas.microsoft.com/office/drawing/2014/main" id="{1FD9C125-7797-4851-BE1D-DD4482189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8039" y="79311"/>
            <a:ext cx="855341" cy="6293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7CD30A4-9865-4124-B6A6-E3D9E6FFF2A5}"/>
              </a:ext>
            </a:extLst>
          </p:cNvPr>
          <p:cNvSpPr txBox="1"/>
          <p:nvPr/>
        </p:nvSpPr>
        <p:spPr>
          <a:xfrm>
            <a:off x="158620" y="101598"/>
            <a:ext cx="8920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200" b="1" dirty="0">
                <a:latin typeface="Speedee" panose="020B0603030502020204" pitchFamily="34" charset="0"/>
              </a:rPr>
              <a:t>¿Cómo resolver el problema de falta de datos?</a:t>
            </a:r>
            <a:endParaRPr lang="es-AR" sz="3200" b="1" dirty="0">
              <a:latin typeface="Speedee" panose="020B06030305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EF20978-4960-4392-B8A2-772CA3419570}"/>
              </a:ext>
            </a:extLst>
          </p:cNvPr>
          <p:cNvSpPr txBox="1"/>
          <p:nvPr/>
        </p:nvSpPr>
        <p:spPr>
          <a:xfrm>
            <a:off x="158620" y="1120676"/>
            <a:ext cx="115233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Speedee" panose="020B0603030502020204" pitchFamily="34" charset="0"/>
                <a:cs typeface="Calibri"/>
              </a:rPr>
              <a:t>Haciendo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un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análisis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sobre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la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composición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de los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que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tenemos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,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cómo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se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relacionan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entre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sí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y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cómo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podemos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obtener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algunos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partir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de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otros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.</a:t>
            </a:r>
          </a:p>
          <a:p>
            <a:endParaRPr lang="en-US" sz="2400" dirty="0">
              <a:latin typeface="Speedee" panose="020B0603030502020204" pitchFamily="34" charset="0"/>
              <a:cs typeface="Calibri"/>
            </a:endParaRPr>
          </a:p>
          <a:p>
            <a:r>
              <a:rPr lang="en-US" sz="2400" dirty="0">
                <a:latin typeface="Speedee" panose="020B0603030502020204" pitchFamily="34" charset="0"/>
                <a:cs typeface="Calibri"/>
              </a:rPr>
              <a:t>Para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facilitar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este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trabajo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utilizamos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herramientas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tecnológicas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como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Python y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varias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bibliotecas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creadas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para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este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lenguaje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.</a:t>
            </a:r>
          </a:p>
          <a:p>
            <a:endParaRPr lang="en-US" sz="2400" dirty="0">
              <a:latin typeface="Speedee" panose="020B0603030502020204" pitchFamily="34" charset="0"/>
              <a:cs typeface="Calibri"/>
            </a:endParaRPr>
          </a:p>
          <a:p>
            <a:endParaRPr lang="es-AR" sz="2400" dirty="0">
              <a:latin typeface="Speedee" panose="020B060303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485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05A242B-930F-4884-A9DD-790687920D66}"/>
              </a:ext>
            </a:extLst>
          </p:cNvPr>
          <p:cNvCxnSpPr/>
          <p:nvPr/>
        </p:nvCxnSpPr>
        <p:spPr>
          <a:xfrm>
            <a:off x="158620" y="774441"/>
            <a:ext cx="1195251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n 6" descr="Imagen que contiene alimentos&#10;&#10;Descripción generada automáticamente">
            <a:extLst>
              <a:ext uri="{FF2B5EF4-FFF2-40B4-BE49-F238E27FC236}">
                <a16:creationId xmlns:a16="http://schemas.microsoft.com/office/drawing/2014/main" id="{1FD9C125-7797-4851-BE1D-DD4482189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8039" y="79311"/>
            <a:ext cx="855341" cy="6293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BED76D9-02C7-4E83-A874-28C8757FD0F8}"/>
              </a:ext>
            </a:extLst>
          </p:cNvPr>
          <p:cNvSpPr txBox="1"/>
          <p:nvPr/>
        </p:nvSpPr>
        <p:spPr>
          <a:xfrm>
            <a:off x="158620" y="101598"/>
            <a:ext cx="7959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200" b="1" dirty="0">
                <a:latin typeface="Speedee" panose="020B0603030502020204" pitchFamily="34" charset="0"/>
              </a:rPr>
              <a:t>Simplificación de los Datos</a:t>
            </a:r>
            <a:endParaRPr lang="es-AR" sz="3200" b="1" dirty="0">
              <a:latin typeface="Speedee" panose="020B06030305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C3B659D-5E66-4BC7-8D00-092F9760418B}"/>
              </a:ext>
            </a:extLst>
          </p:cNvPr>
          <p:cNvSpPr txBox="1"/>
          <p:nvPr/>
        </p:nvSpPr>
        <p:spPr>
          <a:xfrm>
            <a:off x="158620" y="1120676"/>
            <a:ext cx="115233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peedee" panose="020B0603030502020204" pitchFamily="34" charset="0"/>
                <a:cs typeface="Calibri"/>
              </a:rPr>
              <a:t>Al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hacer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un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análisis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del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objetivo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del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proyecto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,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decidimos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que las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columnas</a:t>
            </a:r>
            <a:r>
              <a:rPr lang="en-US" sz="2400" b="1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correspondientes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a la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foto</a:t>
            </a:r>
            <a:r>
              <a:rPr lang="en-US" sz="2400" b="1" dirty="0">
                <a:latin typeface="Speedee" panose="020B0603030502020204" pitchFamily="34" charset="0"/>
                <a:cs typeface="Calibri"/>
              </a:rPr>
              <a:t> de la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propiedad</a:t>
            </a:r>
            <a:r>
              <a:rPr lang="en-US" sz="2400" b="1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(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image_thumbnail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) y de la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dirección</a:t>
            </a:r>
            <a:r>
              <a:rPr lang="en-US" sz="2400" b="1" dirty="0">
                <a:latin typeface="Speedee" panose="020B0603030502020204" pitchFamily="34" charset="0"/>
                <a:cs typeface="Calibri"/>
              </a:rPr>
              <a:t> web 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de la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propiedad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en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el sitio de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properatti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(</a:t>
            </a:r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properati_url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) </a:t>
            </a:r>
            <a:r>
              <a:rPr lang="en-US" sz="2400" b="1" dirty="0">
                <a:latin typeface="Speedee" panose="020B0603030502020204" pitchFamily="34" charset="0"/>
                <a:ea typeface="+mn-lt"/>
                <a:cs typeface="+mn-lt"/>
              </a:rPr>
              <a:t>no </a:t>
            </a:r>
            <a:r>
              <a:rPr lang="en-US" sz="2400" b="1" dirty="0" err="1">
                <a:latin typeface="Speedee" panose="020B0603030502020204" pitchFamily="34" charset="0"/>
                <a:ea typeface="+mn-lt"/>
                <a:cs typeface="+mn-lt"/>
              </a:rPr>
              <a:t>eran</a:t>
            </a:r>
            <a:r>
              <a:rPr lang="en-US" sz="2400" b="1" dirty="0">
                <a:latin typeface="Speedee" panose="020B0603030502020204" pitchFamily="34" charset="0"/>
                <a:ea typeface="+mn-lt"/>
                <a:cs typeface="+mn-lt"/>
              </a:rPr>
              <a:t> </a:t>
            </a:r>
            <a:r>
              <a:rPr lang="en-US" sz="2400" b="1" dirty="0" err="1">
                <a:latin typeface="Speedee" panose="020B0603030502020204" pitchFamily="34" charset="0"/>
                <a:ea typeface="+mn-lt"/>
                <a:cs typeface="+mn-lt"/>
              </a:rPr>
              <a:t>necesarias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.</a:t>
            </a:r>
          </a:p>
          <a:p>
            <a:endParaRPr lang="en-US" sz="2400" dirty="0">
              <a:latin typeface="Speedee" panose="020B0603030502020204" pitchFamily="34" charset="0"/>
              <a:ea typeface="+mn-lt"/>
              <a:cs typeface="+mn-lt"/>
            </a:endParaRPr>
          </a:p>
          <a:p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Debido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 a </a:t>
            </a:r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esto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 las </a:t>
            </a:r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eliminamos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 del data frame para </a:t>
            </a:r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alivianar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 el </a:t>
            </a:r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procesamiento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.</a:t>
            </a:r>
          </a:p>
          <a:p>
            <a:endParaRPr lang="en-US" sz="2400" dirty="0">
              <a:latin typeface="Speedee" panose="020B0603030502020204" pitchFamily="34" charset="0"/>
              <a:ea typeface="+mn-lt"/>
              <a:cs typeface="+mn-lt"/>
            </a:endParaRPr>
          </a:p>
          <a:p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Eliminamos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también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 el </a:t>
            </a:r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dato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 </a:t>
            </a:r>
            <a:r>
              <a:rPr lang="en-US" sz="2400" b="1" dirty="0" err="1">
                <a:latin typeface="Speedee" panose="020B0603030502020204" pitchFamily="34" charset="0"/>
                <a:ea typeface="+mn-lt"/>
                <a:cs typeface="+mn-lt"/>
              </a:rPr>
              <a:t>piso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 (floor) </a:t>
            </a:r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ya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 que </a:t>
            </a:r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tampoco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vimos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 </a:t>
            </a:r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utilidad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 a la hora de </a:t>
            </a:r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realizar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 una </a:t>
            </a:r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cotización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 de </a:t>
            </a:r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propiedades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 y </a:t>
            </a:r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su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nivel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 de </a:t>
            </a:r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completitud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 era </a:t>
            </a:r>
            <a:r>
              <a:rPr lang="en-US" sz="2400" dirty="0" err="1">
                <a:latin typeface="Speedee" panose="020B0603030502020204" pitchFamily="34" charset="0"/>
                <a:ea typeface="+mn-lt"/>
                <a:cs typeface="+mn-lt"/>
              </a:rPr>
              <a:t>muy</a:t>
            </a:r>
            <a:r>
              <a:rPr lang="en-US" sz="2400" dirty="0">
                <a:latin typeface="Speedee" panose="020B0603030502020204" pitchFamily="34" charset="0"/>
                <a:ea typeface="+mn-lt"/>
                <a:cs typeface="+mn-lt"/>
              </a:rPr>
              <a:t> bajo.</a:t>
            </a:r>
          </a:p>
          <a:p>
            <a:endParaRPr lang="en-US" sz="2400" dirty="0">
              <a:latin typeface="Speedee" panose="020B0603030502020204" pitchFamily="34" charset="0"/>
              <a:cs typeface="Calibri"/>
            </a:endParaRPr>
          </a:p>
          <a:p>
            <a:endParaRPr lang="es-AR" sz="2400" dirty="0">
              <a:latin typeface="Speedee" panose="020B060303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438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05A242B-930F-4884-A9DD-790687920D66}"/>
              </a:ext>
            </a:extLst>
          </p:cNvPr>
          <p:cNvCxnSpPr/>
          <p:nvPr/>
        </p:nvCxnSpPr>
        <p:spPr>
          <a:xfrm>
            <a:off x="158620" y="774441"/>
            <a:ext cx="1195251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n 6" descr="Imagen que contiene alimentos&#10;&#10;Descripción generada automáticamente">
            <a:extLst>
              <a:ext uri="{FF2B5EF4-FFF2-40B4-BE49-F238E27FC236}">
                <a16:creationId xmlns:a16="http://schemas.microsoft.com/office/drawing/2014/main" id="{1FD9C125-7797-4851-BE1D-DD4482189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8039" y="79311"/>
            <a:ext cx="855341" cy="6293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2EEC2D2-C98B-43A9-9EC6-67A935331074}"/>
              </a:ext>
            </a:extLst>
          </p:cNvPr>
          <p:cNvSpPr txBox="1"/>
          <p:nvPr/>
        </p:nvSpPr>
        <p:spPr>
          <a:xfrm>
            <a:off x="158620" y="101598"/>
            <a:ext cx="8920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200" b="1" dirty="0">
                <a:latin typeface="Speedee" panose="020B0603030502020204" pitchFamily="34" charset="0"/>
              </a:rPr>
              <a:t>¿Cómo completar los valores faltantes?</a:t>
            </a:r>
            <a:endParaRPr lang="es-AR" sz="3200" b="1" dirty="0">
              <a:latin typeface="Speedee" panose="020B06030305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BDC792B-6A1B-4E5F-8F69-F70762A4BAAE}"/>
              </a:ext>
            </a:extLst>
          </p:cNvPr>
          <p:cNvSpPr txBox="1"/>
          <p:nvPr/>
        </p:nvSpPr>
        <p:spPr>
          <a:xfrm>
            <a:off x="158620" y="971386"/>
            <a:ext cx="11523306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peedee" panose="020B0603030502020204" pitchFamily="34" charset="0"/>
                <a:cs typeface="Calibri"/>
              </a:rPr>
              <a:t>La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estrategia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que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seguimos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fue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principalmente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completar</a:t>
            </a:r>
            <a:r>
              <a:rPr lang="en-US" sz="2400" b="1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partir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de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otros</a:t>
            </a:r>
            <a:r>
              <a:rPr lang="en-US" sz="2400" b="1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presentes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en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el set de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.</a:t>
            </a:r>
          </a:p>
          <a:p>
            <a:r>
              <a:rPr lang="en-US" sz="2400" dirty="0" err="1">
                <a:latin typeface="Speedee" panose="020B0603030502020204" pitchFamily="34" charset="0"/>
                <a:cs typeface="Calibri"/>
              </a:rPr>
              <a:t>Pudimos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establecer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,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teniendo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en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cuenta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el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nombre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de las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columnas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de los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,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relaciones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entre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ellos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y con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esto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poder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calcular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algunos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en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base 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otros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.</a:t>
            </a:r>
          </a:p>
          <a:p>
            <a:endParaRPr lang="en-US" sz="2400" dirty="0">
              <a:latin typeface="Speedee" panose="020B0603030502020204" pitchFamily="34" charset="0"/>
              <a:cs typeface="Calibri"/>
            </a:endParaRPr>
          </a:p>
          <a:p>
            <a:r>
              <a:rPr lang="en-US" sz="2400" dirty="0" err="1">
                <a:latin typeface="Speedee" panose="020B0603030502020204" pitchFamily="34" charset="0"/>
                <a:cs typeface="Calibri"/>
              </a:rPr>
              <a:t>Asimismo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, el set de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contaba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con una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columna</a:t>
            </a:r>
            <a:r>
              <a:rPr lang="en-US" sz="2400" b="1" dirty="0">
                <a:latin typeface="Speedee" panose="020B0603030502020204" pitchFamily="34" charset="0"/>
                <a:cs typeface="Calibri"/>
              </a:rPr>
              <a:t> (description) 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que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contenía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información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en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formato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de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texto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del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cuál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se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podía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 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utilizar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para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inferir</a:t>
            </a:r>
            <a:r>
              <a:rPr lang="en-US" sz="2400" b="1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otros</a:t>
            </a:r>
            <a:r>
              <a:rPr lang="en-US" sz="2400" b="1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b="1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.</a:t>
            </a:r>
          </a:p>
          <a:p>
            <a:endParaRPr lang="en-US" sz="2400" dirty="0">
              <a:latin typeface="Speedee" panose="020B0603030502020204" pitchFamily="34" charset="0"/>
              <a:cs typeface="Calibri"/>
            </a:endParaRPr>
          </a:p>
          <a:p>
            <a:r>
              <a:rPr lang="en-US" sz="2400" b="1" u="sng" dirty="0" err="1">
                <a:latin typeface="Speedee" panose="020B0603030502020204" pitchFamily="34" charset="0"/>
                <a:cs typeface="Calibri"/>
              </a:rPr>
              <a:t>Relacionando</a:t>
            </a:r>
            <a:r>
              <a:rPr lang="en-US" sz="2400" b="1" u="sng" dirty="0">
                <a:latin typeface="Speedee" panose="020B0603030502020204" pitchFamily="34" charset="0"/>
                <a:cs typeface="Calibri"/>
              </a:rPr>
              <a:t> </a:t>
            </a:r>
            <a:r>
              <a:rPr lang="en-US" sz="2400" b="1" u="sng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b="1" u="sng" dirty="0">
                <a:latin typeface="Speedee" panose="020B0603030502020204" pitchFamily="34" charset="0"/>
                <a:cs typeface="Calibri"/>
              </a:rPr>
              <a:t> por </a:t>
            </a:r>
            <a:r>
              <a:rPr lang="en-US" sz="2400" b="1" u="sng" dirty="0" err="1">
                <a:latin typeface="Speedee" panose="020B0603030502020204" pitchFamily="34" charset="0"/>
                <a:cs typeface="Calibri"/>
              </a:rPr>
              <a:t>su</a:t>
            </a:r>
            <a:r>
              <a:rPr lang="en-US" sz="2400" b="1" u="sng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b="1" u="sng" dirty="0" err="1">
                <a:latin typeface="Speedee" panose="020B0603030502020204" pitchFamily="34" charset="0"/>
                <a:cs typeface="Calibri"/>
              </a:rPr>
              <a:t>nombre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: En la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mayoría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de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estos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casos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, la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relación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se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daba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por una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cuenta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matemática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,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en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la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cuál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partir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de dos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se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obtenía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un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tercero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.</a:t>
            </a:r>
          </a:p>
          <a:p>
            <a:r>
              <a:rPr lang="en-US" sz="2400" dirty="0">
                <a:latin typeface="Speedee" panose="020B0603030502020204" pitchFamily="34" charset="0"/>
                <a:cs typeface="Calibri"/>
              </a:rPr>
              <a:t>Por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ej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: </a:t>
            </a:r>
            <a:r>
              <a:rPr lang="en-US" dirty="0">
                <a:latin typeface="Speedee" panose="020B0603030502020204" pitchFamily="34" charset="0"/>
                <a:cs typeface="Calibri"/>
              </a:rPr>
              <a:t>price_usd_per_m2 * surface_total_in_m2 = </a:t>
            </a:r>
            <a:r>
              <a:rPr lang="en-US" dirty="0" err="1">
                <a:latin typeface="Speedee" panose="020B0603030502020204" pitchFamily="34" charset="0"/>
                <a:cs typeface="Calibri"/>
              </a:rPr>
              <a:t>price_aprox_usd</a:t>
            </a:r>
            <a:br>
              <a:rPr lang="en-US" dirty="0">
                <a:latin typeface="Speedee" panose="020B0603030502020204" pitchFamily="34" charset="0"/>
                <a:cs typeface="Calibri"/>
              </a:rPr>
            </a:br>
            <a:endParaRPr lang="en-US" dirty="0">
              <a:latin typeface="Speedee" panose="020B0603030502020204" pitchFamily="34" charset="0"/>
              <a:cs typeface="Calibri"/>
            </a:endParaRPr>
          </a:p>
          <a:p>
            <a:r>
              <a:rPr lang="en-US" sz="2400" dirty="0" err="1">
                <a:latin typeface="Speedee" panose="020B0603030502020204" pitchFamily="34" charset="0"/>
                <a:cs typeface="Calibri"/>
              </a:rPr>
              <a:t>Algunos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eran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la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unión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de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otros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, al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desagregar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los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primeros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pudimos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obtener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los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derivados</a:t>
            </a:r>
            <a:endParaRPr lang="en-US" sz="2400" dirty="0">
              <a:latin typeface="Speedee" panose="020B060303050202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969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05A242B-930F-4884-A9DD-790687920D66}"/>
              </a:ext>
            </a:extLst>
          </p:cNvPr>
          <p:cNvCxnSpPr/>
          <p:nvPr/>
        </p:nvCxnSpPr>
        <p:spPr>
          <a:xfrm>
            <a:off x="158620" y="774441"/>
            <a:ext cx="1195251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n 6" descr="Imagen que contiene alimentos&#10;&#10;Descripción generada automáticamente">
            <a:extLst>
              <a:ext uri="{FF2B5EF4-FFF2-40B4-BE49-F238E27FC236}">
                <a16:creationId xmlns:a16="http://schemas.microsoft.com/office/drawing/2014/main" id="{1FD9C125-7797-4851-BE1D-DD4482189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8039" y="79311"/>
            <a:ext cx="855341" cy="6293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54E7FB0-579F-4186-9179-BF07234B4DA1}"/>
              </a:ext>
            </a:extLst>
          </p:cNvPr>
          <p:cNvSpPr txBox="1"/>
          <p:nvPr/>
        </p:nvSpPr>
        <p:spPr>
          <a:xfrm>
            <a:off x="158620" y="101598"/>
            <a:ext cx="8920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200" b="1" dirty="0">
                <a:latin typeface="Speedee" panose="020B0603030502020204" pitchFamily="34" charset="0"/>
              </a:rPr>
              <a:t>¿Cómo completar los valores faltantes?</a:t>
            </a:r>
            <a:endParaRPr lang="es-AR" sz="3200" b="1" dirty="0">
              <a:latin typeface="Speedee" panose="020B06030305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15577B4-8BA9-42FA-84D2-C76D278A3B9E}"/>
              </a:ext>
            </a:extLst>
          </p:cNvPr>
          <p:cNvSpPr txBox="1"/>
          <p:nvPr/>
        </p:nvSpPr>
        <p:spPr>
          <a:xfrm>
            <a:off x="158620" y="971386"/>
            <a:ext cx="1152330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err="1">
                <a:latin typeface="Speedee" panose="020B0603030502020204" pitchFamily="34" charset="0"/>
                <a:cs typeface="Calibri"/>
              </a:rPr>
              <a:t>Obtener</a:t>
            </a:r>
            <a:r>
              <a:rPr lang="en-US" sz="2400" b="1" u="sng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b="1" u="sng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b="1" u="sng" dirty="0">
                <a:latin typeface="Speedee" panose="020B0603030502020204" pitchFamily="34" charset="0"/>
                <a:cs typeface="Calibri"/>
              </a:rPr>
              <a:t> a </a:t>
            </a:r>
            <a:r>
              <a:rPr lang="en-US" sz="2400" b="1" u="sng" dirty="0" err="1">
                <a:latin typeface="Speedee" panose="020B0603030502020204" pitchFamily="34" charset="0"/>
                <a:cs typeface="Calibri"/>
              </a:rPr>
              <a:t>partir</a:t>
            </a:r>
            <a:r>
              <a:rPr lang="en-US" sz="2400" b="1" u="sng" dirty="0">
                <a:latin typeface="Speedee" panose="020B0603030502020204" pitchFamily="34" charset="0"/>
                <a:cs typeface="Calibri"/>
              </a:rPr>
              <a:t> de la </a:t>
            </a:r>
            <a:r>
              <a:rPr lang="en-US" sz="2400" b="1" u="sng" dirty="0" err="1">
                <a:latin typeface="Speedee" panose="020B0603030502020204" pitchFamily="34" charset="0"/>
                <a:cs typeface="Calibri"/>
              </a:rPr>
              <a:t>columna</a:t>
            </a:r>
            <a:r>
              <a:rPr lang="en-US" sz="2400" b="1" u="sng" dirty="0">
                <a:latin typeface="Speedee" panose="020B0603030502020204" pitchFamily="34" charset="0"/>
                <a:cs typeface="Calibri"/>
              </a:rPr>
              <a:t> Description</a:t>
            </a:r>
            <a:r>
              <a:rPr lang="en-US" sz="2400" b="1" dirty="0">
                <a:latin typeface="Speedee" panose="020B0603030502020204" pitchFamily="34" charset="0"/>
                <a:cs typeface="Calibri"/>
              </a:rPr>
              <a:t>:</a:t>
            </a:r>
          </a:p>
          <a:p>
            <a:endParaRPr lang="en-US" sz="2400" dirty="0">
              <a:latin typeface="Speedee" panose="020B0603030502020204" pitchFamily="34" charset="0"/>
              <a:cs typeface="Calibri"/>
            </a:endParaRPr>
          </a:p>
          <a:p>
            <a:r>
              <a:rPr lang="en-US" sz="2400" dirty="0">
                <a:latin typeface="Speedee" panose="020B0603030502020204" pitchFamily="34" charset="0"/>
                <a:cs typeface="Calibri"/>
              </a:rPr>
              <a:t>En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dicha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columna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hay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información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general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sobre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la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propiedad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.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Analizamos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su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contenido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para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ver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si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 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contenía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información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útil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para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completar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otros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del data set. No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siempre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se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hallaba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información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útil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,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pero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cuando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sí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, la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utilizamos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para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completar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datos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 </a:t>
            </a:r>
            <a:r>
              <a:rPr lang="en-US" sz="2400" dirty="0" err="1">
                <a:latin typeface="Speedee" panose="020B0603030502020204" pitchFamily="34" charset="0"/>
                <a:cs typeface="Calibri"/>
              </a:rPr>
              <a:t>faltantes</a:t>
            </a:r>
            <a:r>
              <a:rPr lang="en-US" sz="2400" dirty="0">
                <a:latin typeface="Speedee" panose="020B0603030502020204" pitchFamily="34" charset="0"/>
                <a:cs typeface="Calibri"/>
              </a:rPr>
              <a:t>.</a:t>
            </a:r>
            <a:endParaRPr lang="en-US" sz="2400" b="1" u="sng" dirty="0">
              <a:latin typeface="Speedee" panose="020B0603030502020204" pitchFamily="34" charset="0"/>
            </a:endParaRPr>
          </a:p>
          <a:p>
            <a:endParaRPr lang="en-US" sz="2400" dirty="0">
              <a:latin typeface="Speedee" panose="020B0603030502020204" pitchFamily="34" charset="0"/>
              <a:cs typeface="Calibri"/>
            </a:endParaRPr>
          </a:p>
          <a:p>
            <a:endParaRPr lang="en-US" sz="2400" dirty="0">
              <a:latin typeface="Speedee" panose="020B0603030502020204" pitchFamily="34" charset="0"/>
              <a:cs typeface="Calibri"/>
            </a:endParaRPr>
          </a:p>
          <a:p>
            <a:endParaRPr lang="en-US" sz="2400" dirty="0">
              <a:latin typeface="Speedee" panose="020B060303050202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4079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8637F4E3-2440-41FA-A452-F4A5B27BE433}"/>
              </a:ext>
            </a:extLst>
          </p:cNvPr>
          <p:cNvCxnSpPr/>
          <p:nvPr/>
        </p:nvCxnSpPr>
        <p:spPr>
          <a:xfrm>
            <a:off x="158620" y="774441"/>
            <a:ext cx="1195251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Imagen 2" descr="Imagen que contiene alimentos&#10;&#10;Descripción generada automáticamente">
            <a:extLst>
              <a:ext uri="{FF2B5EF4-FFF2-40B4-BE49-F238E27FC236}">
                <a16:creationId xmlns:a16="http://schemas.microsoft.com/office/drawing/2014/main" id="{0F325A4C-D591-4C10-AF0F-52ACB6B45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8039" y="79311"/>
            <a:ext cx="855341" cy="6293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9CBBD4E-6CB7-4920-94D7-6E4ACBD8CD7B}"/>
              </a:ext>
            </a:extLst>
          </p:cNvPr>
          <p:cNvSpPr txBox="1"/>
          <p:nvPr/>
        </p:nvSpPr>
        <p:spPr>
          <a:xfrm>
            <a:off x="158620" y="101598"/>
            <a:ext cx="8920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200" b="1" dirty="0">
                <a:latin typeface="Speedee" panose="020B0603030502020204" pitchFamily="34" charset="0"/>
              </a:rPr>
              <a:t>¿Cómo completar los valores faltantes?</a:t>
            </a:r>
            <a:endParaRPr lang="es-AR" sz="3200" b="1" dirty="0">
              <a:latin typeface="Speedee" panose="020B06030305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FDD5FC7-82B8-4A5B-9EE4-99099A691192}"/>
              </a:ext>
            </a:extLst>
          </p:cNvPr>
          <p:cNvSpPr txBox="1"/>
          <p:nvPr/>
        </p:nvSpPr>
        <p:spPr>
          <a:xfrm>
            <a:off x="158620" y="971386"/>
            <a:ext cx="115233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u="sng" dirty="0">
                <a:latin typeface="Speedee" panose="020B0603030502020204" pitchFamily="34" charset="0"/>
              </a:rPr>
              <a:t>Datos de Localidades:</a:t>
            </a:r>
            <a:endParaRPr lang="en-US" sz="2400" b="1" u="sng" dirty="0">
              <a:latin typeface="Speedee" panose="020B0603030502020204" pitchFamily="34" charset="0"/>
            </a:endParaRPr>
          </a:p>
          <a:p>
            <a:endParaRPr lang="en-US" sz="2400" dirty="0">
              <a:latin typeface="Speedee" panose="020B0603030502020204" pitchFamily="34" charset="0"/>
              <a:cs typeface="Calibri"/>
            </a:endParaRPr>
          </a:p>
          <a:p>
            <a:endParaRPr lang="en-US" sz="2400" dirty="0">
              <a:latin typeface="Speedee" panose="020B0603030502020204" pitchFamily="34" charset="0"/>
              <a:cs typeface="Calibri"/>
            </a:endParaRPr>
          </a:p>
          <a:p>
            <a:endParaRPr lang="en-US" sz="2400" dirty="0">
              <a:latin typeface="Speedee" panose="020B0603030502020204" pitchFamily="34" charset="0"/>
              <a:cs typeface="Calibri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F30BE8E-7DFD-4491-9876-F53BA42451A1}"/>
              </a:ext>
            </a:extLst>
          </p:cNvPr>
          <p:cNvSpPr txBox="1">
            <a:spLocks/>
          </p:cNvSpPr>
          <p:nvPr/>
        </p:nvSpPr>
        <p:spPr>
          <a:xfrm>
            <a:off x="362338" y="1639013"/>
            <a:ext cx="10675775" cy="4351338"/>
          </a:xfrm>
          <a:prstGeom prst="rect">
            <a:avLst/>
          </a:prstGeom>
          <a:effectLst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400" b="1" dirty="0" err="1">
                <a:latin typeface="Speedee" panose="020B0603030502020204" pitchFamily="34" charset="0"/>
              </a:rPr>
              <a:t>place_name</a:t>
            </a:r>
            <a:r>
              <a:rPr lang="es-AR" sz="2400" dirty="0">
                <a:latin typeface="Speedee" panose="020B0603030502020204" pitchFamily="34" charset="0"/>
              </a:rPr>
              <a:t> con 23 entradas faltantes (el resto completas)</a:t>
            </a:r>
          </a:p>
          <a:p>
            <a:endParaRPr lang="es-AR" sz="2400" dirty="0">
              <a:latin typeface="Speedee" panose="020B0603030502020204" pitchFamily="34" charset="0"/>
            </a:endParaRPr>
          </a:p>
          <a:p>
            <a:endParaRPr lang="es-AR" sz="2400" dirty="0">
              <a:latin typeface="Speedee" panose="020B0603030502020204" pitchFamily="34" charset="0"/>
            </a:endParaRPr>
          </a:p>
          <a:p>
            <a:endParaRPr lang="es-AR" sz="2400" dirty="0">
              <a:latin typeface="Speedee" panose="020B0603030502020204" pitchFamily="34" charset="0"/>
            </a:endParaRPr>
          </a:p>
          <a:p>
            <a:r>
              <a:rPr lang="es-AR" sz="2400" dirty="0">
                <a:latin typeface="Speedee" panose="020B0603030502020204" pitchFamily="34" charset="0"/>
              </a:rPr>
              <a:t>La mayor parte de información se concentra en </a:t>
            </a:r>
            <a:r>
              <a:rPr lang="en-US" sz="2400" b="1" dirty="0" err="1">
                <a:latin typeface="Speedee" panose="020B0603030502020204" pitchFamily="34" charset="0"/>
              </a:rPr>
              <a:t>place_with_parent_names</a:t>
            </a:r>
            <a:endParaRPr lang="en-US" sz="2400" b="1" dirty="0">
              <a:latin typeface="Speedee" panose="020B0603030502020204" pitchFamily="34" charset="0"/>
            </a:endParaRPr>
          </a:p>
          <a:p>
            <a:endParaRPr lang="es-AR" sz="2400" dirty="0">
              <a:latin typeface="Speedee" panose="020B0603030502020204" pitchFamily="34" charset="0"/>
            </a:endParaRPr>
          </a:p>
          <a:p>
            <a:endParaRPr lang="es-AR" sz="2400" dirty="0">
              <a:latin typeface="Speedee" panose="020B0603030502020204" pitchFamily="34" charset="0"/>
            </a:endParaRPr>
          </a:p>
          <a:p>
            <a:r>
              <a:rPr lang="es-AR" sz="2400" dirty="0">
                <a:latin typeface="Speedee" panose="020B0603030502020204" pitchFamily="34" charset="0"/>
              </a:rPr>
              <a:t>De dicha columna se </a:t>
            </a:r>
            <a:r>
              <a:rPr lang="es-AR" sz="2400" b="1" dirty="0">
                <a:latin typeface="Speedee" panose="020B0603030502020204" pitchFamily="34" charset="0"/>
              </a:rPr>
              <a:t>disgregó</a:t>
            </a:r>
            <a:r>
              <a:rPr lang="es-AR" sz="2400" dirty="0">
                <a:latin typeface="Speedee" panose="020B0603030502020204" pitchFamily="34" charset="0"/>
              </a:rPr>
              <a:t> la información en </a:t>
            </a:r>
            <a:r>
              <a:rPr lang="es-AR" sz="2400" b="1" dirty="0">
                <a:latin typeface="Speedee" panose="020B0603030502020204" pitchFamily="34" charset="0"/>
              </a:rPr>
              <a:t>5 nuevas columnas</a:t>
            </a:r>
            <a:r>
              <a:rPr lang="es-AR" sz="2400" dirty="0">
                <a:latin typeface="Speedee" panose="020B0603030502020204" pitchFamily="34" charset="0"/>
              </a:rPr>
              <a:t> con información de</a:t>
            </a:r>
            <a:r>
              <a:rPr lang="es-AR" sz="2400" b="1" dirty="0">
                <a:latin typeface="Speedee" panose="020B0603030502020204" pitchFamily="34" charset="0"/>
              </a:rPr>
              <a:t> país</a:t>
            </a:r>
            <a:r>
              <a:rPr lang="es-AR" sz="2400" dirty="0">
                <a:latin typeface="Speedee" panose="020B0603030502020204" pitchFamily="34" charset="0"/>
              </a:rPr>
              <a:t>, </a:t>
            </a:r>
            <a:r>
              <a:rPr lang="es-AR" sz="2400" b="1" dirty="0">
                <a:latin typeface="Speedee" panose="020B0603030502020204" pitchFamily="34" charset="0"/>
              </a:rPr>
              <a:t>provincia</a:t>
            </a:r>
            <a:r>
              <a:rPr lang="es-AR" sz="2400" dirty="0">
                <a:latin typeface="Speedee" panose="020B0603030502020204" pitchFamily="34" charset="0"/>
              </a:rPr>
              <a:t>, </a:t>
            </a:r>
            <a:r>
              <a:rPr lang="es-AR" sz="2400" b="1" dirty="0">
                <a:latin typeface="Speedee" panose="020B0603030502020204" pitchFamily="34" charset="0"/>
              </a:rPr>
              <a:t>ciudad</a:t>
            </a:r>
            <a:r>
              <a:rPr lang="es-AR" sz="2400" dirty="0">
                <a:latin typeface="Speedee" panose="020B0603030502020204" pitchFamily="34" charset="0"/>
              </a:rPr>
              <a:t>, </a:t>
            </a:r>
            <a:r>
              <a:rPr lang="es-AR" sz="2400" b="1" dirty="0">
                <a:latin typeface="Speedee" panose="020B0603030502020204" pitchFamily="34" charset="0"/>
              </a:rPr>
              <a:t>barrio</a:t>
            </a:r>
            <a:r>
              <a:rPr lang="es-AR" sz="2400" dirty="0">
                <a:latin typeface="Speedee" panose="020B0603030502020204" pitchFamily="34" charset="0"/>
              </a:rPr>
              <a:t> y </a:t>
            </a:r>
            <a:r>
              <a:rPr lang="es-AR" sz="2400" b="1" dirty="0">
                <a:latin typeface="Speedee" panose="020B0603030502020204" pitchFamily="34" charset="0"/>
              </a:rPr>
              <a:t>zona</a:t>
            </a:r>
            <a:r>
              <a:rPr lang="es-AR" sz="2400" dirty="0">
                <a:latin typeface="Speedee" panose="020B0603030502020204" pitchFamily="34" charset="0"/>
              </a:rPr>
              <a:t> para completar otra información faltante (place_name principalmente).</a:t>
            </a:r>
            <a:endParaRPr lang="en-US" sz="2400" dirty="0">
              <a:latin typeface="Speedee" panose="020B0603030502020204" pitchFamily="34" charset="0"/>
            </a:endParaRPr>
          </a:p>
          <a:p>
            <a:endParaRPr lang="en-US" sz="2400" dirty="0">
              <a:latin typeface="Speedee" panose="020B0603030502020204" pitchFamily="34" charset="0"/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C0A0F673-AA63-4759-8858-2E8BFBBC88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80"/>
          <a:stretch/>
        </p:blipFill>
        <p:spPr>
          <a:xfrm>
            <a:off x="5802706" y="2320447"/>
            <a:ext cx="3275980" cy="888226"/>
          </a:xfrm>
          <a:prstGeom prst="rect">
            <a:avLst/>
          </a:prstGeom>
          <a:ln w="38100" cap="rnd" cmpd="sng">
            <a:noFill/>
          </a:ln>
          <a:effectLst>
            <a:outerShdw blurRad="139700" dist="139700" dir="3360000" sx="104000" sy="104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296F6607-5F35-4008-98B2-871C5787F2E7}"/>
              </a:ext>
            </a:extLst>
          </p:cNvPr>
          <p:cNvSpPr/>
          <p:nvPr/>
        </p:nvSpPr>
        <p:spPr>
          <a:xfrm rot="18138644">
            <a:off x="4759908" y="2087774"/>
            <a:ext cx="477622" cy="906545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A17C81B1-C36E-4A1E-9D07-62EEDCA2CEBF}"/>
              </a:ext>
            </a:extLst>
          </p:cNvPr>
          <p:cNvSpPr/>
          <p:nvPr/>
        </p:nvSpPr>
        <p:spPr>
          <a:xfrm>
            <a:off x="2635639" y="3967470"/>
            <a:ext cx="508777" cy="763150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0158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8637F4E3-2440-41FA-A452-F4A5B27BE433}"/>
              </a:ext>
            </a:extLst>
          </p:cNvPr>
          <p:cNvCxnSpPr/>
          <p:nvPr/>
        </p:nvCxnSpPr>
        <p:spPr>
          <a:xfrm>
            <a:off x="158620" y="774441"/>
            <a:ext cx="1195251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Imagen 2" descr="Imagen que contiene alimentos&#10;&#10;Descripción generada automáticamente">
            <a:extLst>
              <a:ext uri="{FF2B5EF4-FFF2-40B4-BE49-F238E27FC236}">
                <a16:creationId xmlns:a16="http://schemas.microsoft.com/office/drawing/2014/main" id="{0F325A4C-D591-4C10-AF0F-52ACB6B45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8039" y="79311"/>
            <a:ext cx="855341" cy="6293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123F664-34C7-4FE6-B316-3DC1AF22144F}"/>
              </a:ext>
            </a:extLst>
          </p:cNvPr>
          <p:cNvSpPr txBox="1"/>
          <p:nvPr/>
        </p:nvSpPr>
        <p:spPr>
          <a:xfrm>
            <a:off x="158620" y="101598"/>
            <a:ext cx="8920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200" b="1" dirty="0">
                <a:latin typeface="Speedee" panose="020B0603030502020204" pitchFamily="34" charset="0"/>
              </a:rPr>
              <a:t>Oportunidades de Mejora</a:t>
            </a:r>
            <a:endParaRPr lang="es-AR" sz="3200" b="1" dirty="0">
              <a:latin typeface="Speedee" panose="020B0603030502020204" pitchFamily="34" charset="0"/>
            </a:endParaRPr>
          </a:p>
        </p:txBody>
      </p:sp>
      <p:grpSp>
        <p:nvGrpSpPr>
          <p:cNvPr id="5" name="Group 12">
            <a:extLst>
              <a:ext uri="{FF2B5EF4-FFF2-40B4-BE49-F238E27FC236}">
                <a16:creationId xmlns:a16="http://schemas.microsoft.com/office/drawing/2014/main" id="{82DE8F87-8CAA-4A00-BA4C-446A684748AC}"/>
              </a:ext>
            </a:extLst>
          </p:cNvPr>
          <p:cNvGrpSpPr/>
          <p:nvPr/>
        </p:nvGrpSpPr>
        <p:grpSpPr>
          <a:xfrm>
            <a:off x="306868" y="2726987"/>
            <a:ext cx="11672930" cy="3615396"/>
            <a:chOff x="306868" y="2726987"/>
            <a:chExt cx="11672930" cy="3615396"/>
          </a:xfrm>
        </p:grpSpPr>
        <p:pic>
          <p:nvPicPr>
            <p:cNvPr id="6" name="Picture 3">
              <a:extLst>
                <a:ext uri="{FF2B5EF4-FFF2-40B4-BE49-F238E27FC236}">
                  <a16:creationId xmlns:a16="http://schemas.microsoft.com/office/drawing/2014/main" id="{C1DAAE40-B455-4AD8-BAF4-9072085F05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71" r="3223"/>
            <a:stretch/>
          </p:blipFill>
          <p:spPr>
            <a:xfrm>
              <a:off x="393539" y="2726987"/>
              <a:ext cx="11586259" cy="3335694"/>
            </a:xfrm>
            <a:prstGeom prst="rect">
              <a:avLst/>
            </a:prstGeom>
          </p:spPr>
        </p:pic>
        <p:sp>
          <p:nvSpPr>
            <p:cNvPr id="7" name="Down Arrow 4">
              <a:extLst>
                <a:ext uri="{FF2B5EF4-FFF2-40B4-BE49-F238E27FC236}">
                  <a16:creationId xmlns:a16="http://schemas.microsoft.com/office/drawing/2014/main" id="{399B982C-D052-45FA-87A6-6E2AE89C1ACC}"/>
                </a:ext>
              </a:extLst>
            </p:cNvPr>
            <p:cNvSpPr/>
            <p:nvPr/>
          </p:nvSpPr>
          <p:spPr>
            <a:xfrm rot="3502084">
              <a:off x="5764194" y="3020992"/>
              <a:ext cx="497711" cy="34724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Down Arrow 6">
              <a:extLst>
                <a:ext uri="{FF2B5EF4-FFF2-40B4-BE49-F238E27FC236}">
                  <a16:creationId xmlns:a16="http://schemas.microsoft.com/office/drawing/2014/main" id="{32199859-F705-4709-A880-D70DB1141FAA}"/>
                </a:ext>
              </a:extLst>
            </p:cNvPr>
            <p:cNvSpPr/>
            <p:nvPr/>
          </p:nvSpPr>
          <p:spPr>
            <a:xfrm rot="19358822">
              <a:off x="7168588" y="4957822"/>
              <a:ext cx="497711" cy="34724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Down Arrow 7">
              <a:extLst>
                <a:ext uri="{FF2B5EF4-FFF2-40B4-BE49-F238E27FC236}">
                  <a16:creationId xmlns:a16="http://schemas.microsoft.com/office/drawing/2014/main" id="{2EBFA349-F93B-44CF-AEE8-FB573CEAEF5A}"/>
                </a:ext>
              </a:extLst>
            </p:cNvPr>
            <p:cNvSpPr/>
            <p:nvPr/>
          </p:nvSpPr>
          <p:spPr>
            <a:xfrm rot="19358822">
              <a:off x="8432157" y="4957821"/>
              <a:ext cx="497711" cy="34724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Down Arrow 8">
              <a:extLst>
                <a:ext uri="{FF2B5EF4-FFF2-40B4-BE49-F238E27FC236}">
                  <a16:creationId xmlns:a16="http://schemas.microsoft.com/office/drawing/2014/main" id="{05E2B1DB-495E-4C2E-923E-451E320A8986}"/>
                </a:ext>
              </a:extLst>
            </p:cNvPr>
            <p:cNvSpPr/>
            <p:nvPr/>
          </p:nvSpPr>
          <p:spPr>
            <a:xfrm rot="19358822">
              <a:off x="10145210" y="4926222"/>
              <a:ext cx="497711" cy="34724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Down Arrow 9">
              <a:extLst>
                <a:ext uri="{FF2B5EF4-FFF2-40B4-BE49-F238E27FC236}">
                  <a16:creationId xmlns:a16="http://schemas.microsoft.com/office/drawing/2014/main" id="{39FB3CD7-795D-469B-8B66-4523FDC42311}"/>
                </a:ext>
              </a:extLst>
            </p:cNvPr>
            <p:cNvSpPr/>
            <p:nvPr/>
          </p:nvSpPr>
          <p:spPr>
            <a:xfrm rot="19358822">
              <a:off x="11114786" y="4336649"/>
              <a:ext cx="497711" cy="34724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1EC77363-964B-4A7B-9DA1-1D82A73B7905}"/>
                </a:ext>
              </a:extLst>
            </p:cNvPr>
            <p:cNvSpPr txBox="1"/>
            <p:nvPr/>
          </p:nvSpPr>
          <p:spPr>
            <a:xfrm>
              <a:off x="306868" y="2891671"/>
              <a:ext cx="11329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200" b="1" i="1" dirty="0">
                  <a:latin typeface="Speedee" panose="020B0603030502020204" pitchFamily="34" charset="0"/>
                </a:rPr>
                <a:t>precio por m2</a:t>
              </a:r>
              <a:endParaRPr lang="en-US" sz="1200" b="1" i="1" dirty="0">
                <a:latin typeface="Speedee" panose="020B0603030502020204" pitchFamily="34" charset="0"/>
              </a:endParaRPr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069E66D6-4C46-4F93-8015-8E7BE335C591}"/>
                </a:ext>
              </a:extLst>
            </p:cNvPr>
            <p:cNvSpPr txBox="1"/>
            <p:nvPr/>
          </p:nvSpPr>
          <p:spPr>
            <a:xfrm>
              <a:off x="11164693" y="6065384"/>
              <a:ext cx="6912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200" dirty="0"/>
                <a:t>distritos</a:t>
              </a:r>
              <a:endParaRPr lang="en-US" sz="12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2EDFA00-0074-4DFC-A1C7-47256B3CEBFC}"/>
              </a:ext>
            </a:extLst>
          </p:cNvPr>
          <p:cNvSpPr txBox="1"/>
          <p:nvPr/>
        </p:nvSpPr>
        <p:spPr>
          <a:xfrm>
            <a:off x="499048" y="3365113"/>
            <a:ext cx="44624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latin typeface="Speedee" panose="020B0603030502020204" pitchFamily="34" charset="0"/>
              </a:rPr>
              <a:t>Al intentar analizar la </a:t>
            </a:r>
            <a:r>
              <a:rPr lang="es-AR" b="1" dirty="0">
                <a:latin typeface="Speedee" panose="020B0603030502020204" pitchFamily="34" charset="0"/>
              </a:rPr>
              <a:t>relación</a:t>
            </a:r>
            <a:r>
              <a:rPr lang="es-AR" dirty="0">
                <a:latin typeface="Speedee" panose="020B0603030502020204" pitchFamily="34" charset="0"/>
              </a:rPr>
              <a:t> entre el </a:t>
            </a:r>
            <a:r>
              <a:rPr lang="es-AR" b="1" dirty="0">
                <a:latin typeface="Speedee" panose="020B0603030502020204" pitchFamily="34" charset="0"/>
              </a:rPr>
              <a:t>precio por m2</a:t>
            </a:r>
            <a:r>
              <a:rPr lang="es-AR" dirty="0">
                <a:latin typeface="Speedee" panose="020B0603030502020204" pitchFamily="34" charset="0"/>
              </a:rPr>
              <a:t> y la </a:t>
            </a:r>
            <a:r>
              <a:rPr lang="es-AR" b="1" dirty="0">
                <a:latin typeface="Speedee" panose="020B0603030502020204" pitchFamily="34" charset="0"/>
              </a:rPr>
              <a:t>locación</a:t>
            </a:r>
            <a:r>
              <a:rPr lang="es-AR" dirty="0">
                <a:latin typeface="Speedee" panose="020B0603030502020204" pitchFamily="34" charset="0"/>
              </a:rPr>
              <a:t>, se encontraron </a:t>
            </a:r>
            <a:r>
              <a:rPr lang="es-AR" b="1" dirty="0">
                <a:latin typeface="Speedee" panose="020B0603030502020204" pitchFamily="34" charset="0"/>
              </a:rPr>
              <a:t>anomalidades </a:t>
            </a:r>
            <a:r>
              <a:rPr lang="es-AR" dirty="0">
                <a:latin typeface="Speedee" panose="020B0603030502020204" pitchFamily="34" charset="0"/>
              </a:rPr>
              <a:t>(observaciones contrapuestas a los valores esperados, </a:t>
            </a:r>
            <a:r>
              <a:rPr lang="es-AR" dirty="0" err="1">
                <a:latin typeface="Speedee" panose="020B0603030502020204" pitchFamily="34" charset="0"/>
              </a:rPr>
              <a:t>ej</a:t>
            </a:r>
            <a:r>
              <a:rPr lang="es-AR" dirty="0">
                <a:latin typeface="Speedee" panose="020B0603030502020204" pitchFamily="34" charset="0"/>
              </a:rPr>
              <a:t>: precio en Formosa mucho más elevado que en CABA)</a:t>
            </a:r>
            <a:endParaRPr lang="en-US" dirty="0">
              <a:latin typeface="Speedee" panose="020B06030305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ED27A6-AFBA-462E-B6BA-B8B1BF499F3F}"/>
              </a:ext>
            </a:extLst>
          </p:cNvPr>
          <p:cNvSpPr txBox="1"/>
          <p:nvPr/>
        </p:nvSpPr>
        <p:spPr>
          <a:xfrm>
            <a:off x="6546527" y="3362410"/>
            <a:ext cx="46968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latin typeface="Speedee" panose="020B0603030502020204" pitchFamily="34" charset="0"/>
              </a:rPr>
              <a:t>Esto nos lleva a pensar que éstos datos en particular deben ser </a:t>
            </a:r>
            <a:r>
              <a:rPr lang="es-AR" b="1" dirty="0">
                <a:latin typeface="Speedee" panose="020B0603030502020204" pitchFamily="34" charset="0"/>
              </a:rPr>
              <a:t>reanalizados </a:t>
            </a:r>
            <a:r>
              <a:rPr lang="es-AR" dirty="0">
                <a:latin typeface="Speedee" panose="020B0603030502020204" pitchFamily="34" charset="0"/>
              </a:rPr>
              <a:t>para replantear su tratamiento de un modo más adecuado</a:t>
            </a:r>
            <a:endParaRPr lang="en-US" dirty="0">
              <a:latin typeface="Speedee" panose="020B060303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368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8637F4E3-2440-41FA-A452-F4A5B27BE433}"/>
              </a:ext>
            </a:extLst>
          </p:cNvPr>
          <p:cNvCxnSpPr/>
          <p:nvPr/>
        </p:nvCxnSpPr>
        <p:spPr>
          <a:xfrm>
            <a:off x="158620" y="774441"/>
            <a:ext cx="1195251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Imagen 2" descr="Imagen que contiene alimentos&#10;&#10;Descripción generada automáticamente">
            <a:extLst>
              <a:ext uri="{FF2B5EF4-FFF2-40B4-BE49-F238E27FC236}">
                <a16:creationId xmlns:a16="http://schemas.microsoft.com/office/drawing/2014/main" id="{0F325A4C-D591-4C10-AF0F-52ACB6B45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8039" y="79311"/>
            <a:ext cx="855341" cy="6293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4CE54B8-2771-4908-9DA0-0E4B29F0155E}"/>
              </a:ext>
            </a:extLst>
          </p:cNvPr>
          <p:cNvSpPr txBox="1"/>
          <p:nvPr/>
        </p:nvSpPr>
        <p:spPr>
          <a:xfrm>
            <a:off x="3531636" y="2828835"/>
            <a:ext cx="52064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7200" b="1" dirty="0">
                <a:latin typeface="Speedee" panose="020B0603030502020204" pitchFamily="34" charset="0"/>
              </a:rPr>
              <a:t>GRACIAS!!</a:t>
            </a:r>
            <a:endParaRPr lang="es-AR" sz="7200" b="1" dirty="0">
              <a:latin typeface="Speedee" panose="020B060303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6930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423</Words>
  <Application>Microsoft Office PowerPoint</Application>
  <PresentationFormat>Panorámica</PresentationFormat>
  <Paragraphs>54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Speedee</vt:lpstr>
      <vt:lpstr>Tema de Office</vt:lpstr>
      <vt:lpstr>DIGITAL HOUSE  DATA SCIENCE - DESAFÍO 1  GRUPO 3  David Gagliano Alejandro Garavano Santiago López Mañan Diego Pais Franco Scavini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HOUSE  DATA SCIENCE - DESAFÍO 1  GRUPO 3  David Gagliano Alejandro Garavano Santiago López Mañan Diego Pais Franco Scavini</dc:title>
  <dc:creator>Santiago Lopez Mañan</dc:creator>
  <cp:lastModifiedBy>Santiago Lopez Mañan</cp:lastModifiedBy>
  <cp:revision>4</cp:revision>
  <dcterms:created xsi:type="dcterms:W3CDTF">2020-03-31T22:36:00Z</dcterms:created>
  <dcterms:modified xsi:type="dcterms:W3CDTF">2020-03-31T22:57:12Z</dcterms:modified>
</cp:coreProperties>
</file>