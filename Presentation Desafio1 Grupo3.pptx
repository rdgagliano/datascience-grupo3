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59" r:id="rId4"/>
    <p:sldId id="260" r:id="rId5"/>
    <p:sldId id="270" r:id="rId6"/>
    <p:sldId id="258" r:id="rId7"/>
    <p:sldId id="269" r:id="rId8"/>
    <p:sldId id="261" r:id="rId9"/>
    <p:sldId id="262" r:id="rId10"/>
    <p:sldId id="263" r:id="rId11"/>
    <p:sldId id="264" r:id="rId12"/>
    <p:sldId id="265" r:id="rId13"/>
    <p:sldId id="268" r:id="rId14"/>
    <p:sldId id="267" r:id="rId15"/>
    <p:sldId id="26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C9AFCE-83D6-4898-9BF9-A6BF62B5DD3D}" v="2441" dt="2020-03-31T16:08:28.5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74" d="100"/>
          <a:sy n="74" d="100"/>
        </p:scale>
        <p:origin x="53" y="4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1" d="100"/>
          <a:sy n="71" d="100"/>
        </p:scale>
        <p:origin x="1987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3926" y="1161826"/>
            <a:ext cx="495748" cy="49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68511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765BA-1B93-4799-BEE1-FEFAC354A1BE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DDE2A-55BB-43ED-ADC3-CC59B3C93D4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08770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1474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effectLst>
            <a:outerShdw blurRad="50800" dist="508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>
              <a:defRPr sz="3200">
                <a:latin typeface="Bookman Old Style" panose="02050604050505020204" pitchFamily="18" charset="0"/>
              </a:defRPr>
            </a:lvl1pPr>
          </a:lstStyle>
          <a:p>
            <a:r>
              <a:rPr lang="es-AR" dirty="0"/>
              <a:t>Desafío 1 – Grupo 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5F03F-295F-4FEE-8784-F483B212F7C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06822-C680-4018-BB08-712CCD4C2A8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777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5F03F-295F-4FEE-8784-F483B212F7C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06822-C680-4018-BB08-712CCD4C2A8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812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22000"/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D5F03F-295F-4FEE-8784-F483B212F7C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706822-C680-4018-BB08-712CCD4C2A81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 userDrawn="1"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cxnSp>
        <p:nvCxnSpPr>
          <p:cNvPr id="13" name="Straight Connector 12"/>
          <p:cNvCxnSpPr>
            <a:stCxn id="9" idx="1"/>
          </p:cNvCxnSpPr>
          <p:nvPr userDrawn="1"/>
        </p:nvCxnSpPr>
        <p:spPr>
          <a:xfrm>
            <a:off x="838200" y="1027907"/>
            <a:ext cx="10935984" cy="20057"/>
          </a:xfrm>
          <a:prstGeom prst="line">
            <a:avLst/>
          </a:prstGeom>
          <a:ln w="222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46"/>
          <a:stretch/>
        </p:blipFill>
        <p:spPr>
          <a:xfrm>
            <a:off x="9683657" y="365125"/>
            <a:ext cx="1880335" cy="1459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739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49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onames.org/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369913" y="2151728"/>
            <a:ext cx="11452174" cy="2554545"/>
          </a:xfrm>
          <a:prstGeom prst="rect">
            <a:avLst/>
          </a:prstGeom>
          <a:noFill/>
          <a:effectLst>
            <a:outerShdw blurRad="50800" dist="101600" dir="2700000" algn="tl" rotWithShape="0">
              <a:schemeClr val="tx1">
                <a:alpha val="40000"/>
              </a:schemeClr>
            </a:outerShdw>
          </a:effectLst>
        </p:spPr>
        <p:txBody>
          <a:bodyPr wrap="none" rtlCol="0">
            <a:spAutoFit/>
          </a:bodyPr>
          <a:lstStyle/>
          <a:p>
            <a:r>
              <a:rPr lang="es-AR" sz="8000" dirty="0">
                <a:latin typeface="Bookman Old Style" panose="02050604050505020204" pitchFamily="18" charset="0"/>
                <a:cs typeface="Arial" panose="020B0604020202020204" pitchFamily="34" charset="0"/>
              </a:rPr>
              <a:t>Desafío 1-DataScience</a:t>
            </a:r>
          </a:p>
          <a:p>
            <a:pPr algn="ctr"/>
            <a:r>
              <a:rPr lang="es-AR" sz="8000" dirty="0">
                <a:latin typeface="Bookman Old Style" panose="02050604050505020204" pitchFamily="18" charset="0"/>
                <a:cs typeface="Arial" panose="020B0604020202020204" pitchFamily="34" charset="0"/>
              </a:rPr>
              <a:t>Grupo 3</a:t>
            </a:r>
            <a:endParaRPr lang="en-US" sz="8000" dirty="0">
              <a:latin typeface="Bookman Old Style" panose="020506040505050202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682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s-AR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Integrantes</a:t>
            </a:r>
            <a:r>
              <a:rPr lang="es-AR" dirty="0"/>
              <a:t>:</a:t>
            </a:r>
          </a:p>
          <a:p>
            <a:pPr algn="ctr">
              <a:lnSpc>
                <a:spcPct val="150000"/>
              </a:lnSpc>
            </a:pPr>
            <a:r>
              <a:rPr lang="en-US" dirty="0"/>
              <a:t>David </a:t>
            </a:r>
            <a:r>
              <a:rPr lang="en-US" dirty="0" err="1"/>
              <a:t>Gagliano</a:t>
            </a:r>
            <a:br>
              <a:rPr lang="en-US" dirty="0"/>
            </a:br>
            <a:r>
              <a:rPr lang="en-US" dirty="0"/>
              <a:t>Alejandro </a:t>
            </a:r>
            <a:r>
              <a:rPr lang="en-US" dirty="0" err="1"/>
              <a:t>Garavano</a:t>
            </a:r>
            <a:endParaRPr lang="en-US" dirty="0"/>
          </a:p>
          <a:p>
            <a:pPr algn="ctr">
              <a:lnSpc>
                <a:spcPct val="150000"/>
              </a:lnSpc>
            </a:pPr>
            <a:r>
              <a:rPr lang="en-US" dirty="0"/>
              <a:t>Santiago Jose </a:t>
            </a:r>
            <a:r>
              <a:rPr lang="en-US" dirty="0" err="1"/>
              <a:t>Mañan</a:t>
            </a:r>
            <a:endParaRPr lang="en-US" dirty="0"/>
          </a:p>
          <a:p>
            <a:pPr algn="ctr">
              <a:lnSpc>
                <a:spcPct val="150000"/>
              </a:lnSpc>
            </a:pPr>
            <a:r>
              <a:rPr lang="en-US" dirty="0"/>
              <a:t>Diego </a:t>
            </a:r>
            <a:r>
              <a:rPr lang="en-US" dirty="0" err="1"/>
              <a:t>Pais</a:t>
            </a:r>
            <a:endParaRPr lang="en-US" dirty="0"/>
          </a:p>
          <a:p>
            <a:pPr algn="ctr">
              <a:lnSpc>
                <a:spcPct val="150000"/>
              </a:lnSpc>
            </a:pPr>
            <a:r>
              <a:rPr lang="en-US" dirty="0"/>
              <a:t>Franco </a:t>
            </a:r>
            <a:r>
              <a:rPr lang="en-US" dirty="0" err="1"/>
              <a:t>Scavini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177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380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r>
              <a:rPr lang="es-AR" sz="2400" dirty="0" err="1"/>
              <a:t>place_name</a:t>
            </a:r>
            <a:r>
              <a:rPr lang="es-AR" sz="2400" dirty="0"/>
              <a:t> con 23 entradas faltantes (el resto completas)</a:t>
            </a:r>
          </a:p>
          <a:p>
            <a:endParaRPr lang="es-AR" sz="2400" dirty="0"/>
          </a:p>
          <a:p>
            <a:endParaRPr lang="es-AR" sz="2400" dirty="0"/>
          </a:p>
          <a:p>
            <a:endParaRPr lang="es-AR" sz="2400" dirty="0"/>
          </a:p>
          <a:p>
            <a:r>
              <a:rPr lang="es-AR" sz="2400" dirty="0"/>
              <a:t>La mayor parte de información se concentra en </a:t>
            </a:r>
            <a:r>
              <a:rPr lang="en-US" sz="2400" dirty="0" err="1"/>
              <a:t>place_with_parent_names</a:t>
            </a:r>
            <a:endParaRPr lang="en-US" sz="2400" dirty="0"/>
          </a:p>
          <a:p>
            <a:endParaRPr lang="es-AR" sz="2400" dirty="0"/>
          </a:p>
          <a:p>
            <a:endParaRPr lang="es-AR" sz="2400" dirty="0"/>
          </a:p>
          <a:p>
            <a:r>
              <a:rPr lang="es-AR" sz="2400" dirty="0"/>
              <a:t>De esa columna se disgregó la información en 5 nuevas columnas con información de país, provincia, ciudad, barrio y zona para completar otra información faltante (</a:t>
            </a:r>
            <a:r>
              <a:rPr lang="es-AR" sz="2400" dirty="0" err="1"/>
              <a:t>place_name</a:t>
            </a:r>
            <a:r>
              <a:rPr lang="es-AR" sz="2400" dirty="0"/>
              <a:t> principalmente).</a:t>
            </a:r>
            <a:endParaRPr lang="en-US" sz="2400" dirty="0"/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5680"/>
          <a:stretch/>
        </p:blipFill>
        <p:spPr>
          <a:xfrm>
            <a:off x="5854632" y="2563997"/>
            <a:ext cx="3275980" cy="888226"/>
          </a:xfrm>
          <a:prstGeom prst="rect">
            <a:avLst/>
          </a:prstGeom>
          <a:ln w="38100" cap="rnd" cmpd="sng">
            <a:noFill/>
          </a:ln>
          <a:effectLst>
            <a:outerShdw blurRad="139700" dist="139700" dir="3360000" sx="104000" sy="104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Down Arrow 4"/>
          <p:cNvSpPr/>
          <p:nvPr/>
        </p:nvSpPr>
        <p:spPr>
          <a:xfrm>
            <a:off x="2393878" y="4243227"/>
            <a:ext cx="523982" cy="585627"/>
          </a:xfrm>
          <a:prstGeom prst="downArrow">
            <a:avLst/>
          </a:prstGeom>
          <a:ln>
            <a:noFill/>
          </a:ln>
          <a:effectLst>
            <a:outerShdw blurRad="762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38200" y="1218864"/>
            <a:ext cx="3175678" cy="480131"/>
          </a:xfrm>
          <a:prstGeom prst="rect">
            <a:avLst/>
          </a:prstGeom>
          <a:effectLst/>
        </p:spPr>
        <p:txBody>
          <a:bodyPr/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s-AR" u="sng" dirty="0"/>
              <a:t>Datos de localidades</a:t>
            </a:r>
            <a:endParaRPr lang="en-US" u="sng" dirty="0"/>
          </a:p>
        </p:txBody>
      </p:sp>
      <p:sp>
        <p:nvSpPr>
          <p:cNvPr id="9" name="Down Arrow 8"/>
          <p:cNvSpPr/>
          <p:nvPr/>
        </p:nvSpPr>
        <p:spPr>
          <a:xfrm rot="18292520">
            <a:off x="5042898" y="2271184"/>
            <a:ext cx="523982" cy="585627"/>
          </a:xfrm>
          <a:prstGeom prst="downArrow">
            <a:avLst/>
          </a:prstGeom>
          <a:ln>
            <a:noFill/>
          </a:ln>
          <a:effectLst>
            <a:outerShdw blurRad="762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03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911889"/>
            <a:ext cx="10515600" cy="4265074"/>
          </a:xfrm>
        </p:spPr>
        <p:txBody>
          <a:bodyPr anchor="t"/>
          <a:lstStyle/>
          <a:p>
            <a:r>
              <a:rPr lang="en-US" dirty="0" err="1">
                <a:cs typeface="Calibri"/>
              </a:rPr>
              <a:t>Análisis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estructural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En general el set de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tenía</a:t>
            </a:r>
            <a:r>
              <a:rPr lang="en-US" dirty="0">
                <a:cs typeface="Calibri"/>
              </a:rPr>
              <a:t> una </a:t>
            </a:r>
            <a:r>
              <a:rPr lang="en-US" dirty="0" err="1">
                <a:cs typeface="Calibri"/>
              </a:rPr>
              <a:t>estructura</a:t>
            </a:r>
            <a:r>
              <a:rPr lang="en-US" dirty="0">
                <a:cs typeface="Calibri"/>
              </a:rPr>
              <a:t> bien </a:t>
            </a:r>
            <a:r>
              <a:rPr lang="en-US" dirty="0" err="1">
                <a:cs typeface="Calibri"/>
              </a:rPr>
              <a:t>definida</a:t>
            </a:r>
            <a:r>
              <a:rPr lang="en-US" dirty="0">
                <a:cs typeface="Calibri"/>
              </a:rPr>
              <a:t>. Casi </a:t>
            </a:r>
            <a:r>
              <a:rPr lang="en-US" dirty="0" err="1">
                <a:cs typeface="Calibri"/>
              </a:rPr>
              <a:t>todas</a:t>
            </a:r>
            <a:r>
              <a:rPr lang="en-US" dirty="0">
                <a:cs typeface="Calibri"/>
              </a:rPr>
              <a:t> los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contaban</a:t>
            </a:r>
            <a:r>
              <a:rPr lang="en-US" dirty="0">
                <a:cs typeface="Calibri"/>
              </a:rPr>
              <a:t> con una </a:t>
            </a:r>
            <a:r>
              <a:rPr lang="en-US" dirty="0" err="1">
                <a:cs typeface="Calibri"/>
              </a:rPr>
              <a:t>identificación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clara</a:t>
            </a:r>
            <a:r>
              <a:rPr lang="en-US" dirty="0">
                <a:cs typeface="Calibri"/>
              </a:rPr>
              <a:t>, a </a:t>
            </a:r>
            <a:r>
              <a:rPr lang="en-US" dirty="0" err="1">
                <a:cs typeface="Calibri"/>
              </a:rPr>
              <a:t>excepción</a:t>
            </a:r>
            <a:r>
              <a:rPr lang="en-US" dirty="0">
                <a:cs typeface="Calibri"/>
              </a:rPr>
              <a:t> de un solo </a:t>
            </a:r>
            <a:r>
              <a:rPr lang="en-US" dirty="0" err="1">
                <a:cs typeface="Calibri"/>
              </a:rPr>
              <a:t>dato</a:t>
            </a:r>
            <a:r>
              <a:rPr lang="en-US" dirty="0">
                <a:cs typeface="Calibri"/>
              </a:rPr>
              <a:t>, que lo </a:t>
            </a:r>
            <a:r>
              <a:rPr lang="en-US" dirty="0" err="1">
                <a:cs typeface="Calibri"/>
              </a:rPr>
              <a:t>asumimos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como</a:t>
            </a:r>
            <a:r>
              <a:rPr lang="en-US" dirty="0">
                <a:cs typeface="Calibri"/>
              </a:rPr>
              <a:t> un </a:t>
            </a:r>
            <a:r>
              <a:rPr lang="en-US" dirty="0" err="1">
                <a:cs typeface="Calibri"/>
              </a:rPr>
              <a:t>dato</a:t>
            </a:r>
            <a:r>
              <a:rPr lang="en-US" dirty="0">
                <a:cs typeface="Calibri"/>
              </a:rPr>
              <a:t> Id y se </a:t>
            </a:r>
            <a:r>
              <a:rPr lang="en-US" dirty="0" err="1">
                <a:cs typeface="Calibri"/>
              </a:rPr>
              <a:t>comporta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manera</a:t>
            </a:r>
            <a:r>
              <a:rPr lang="en-US" dirty="0">
                <a:cs typeface="Calibri"/>
              </a:rPr>
              <a:t> similar a un </a:t>
            </a:r>
            <a:r>
              <a:rPr lang="en-US" dirty="0" err="1">
                <a:cs typeface="Calibri"/>
              </a:rPr>
              <a:t>índice</a:t>
            </a:r>
            <a:r>
              <a:rPr lang="en-US" dirty="0">
                <a:cs typeface="Calibri"/>
              </a:rPr>
              <a:t>.</a:t>
            </a:r>
          </a:p>
          <a:p>
            <a:r>
              <a:rPr lang="en-US" dirty="0">
                <a:cs typeface="Calibri"/>
              </a:rPr>
              <a:t>En </a:t>
            </a:r>
            <a:r>
              <a:rPr lang="en-US" dirty="0" err="1">
                <a:cs typeface="Calibri"/>
              </a:rPr>
              <a:t>cuanto</a:t>
            </a:r>
            <a:r>
              <a:rPr lang="en-US" dirty="0">
                <a:cs typeface="Calibri"/>
              </a:rPr>
              <a:t> a los </a:t>
            </a:r>
            <a:r>
              <a:rPr lang="en-US" dirty="0" err="1">
                <a:cs typeface="Calibri"/>
              </a:rPr>
              <a:t>tipos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tenemos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tipo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texto</a:t>
            </a:r>
            <a:r>
              <a:rPr lang="en-US" dirty="0">
                <a:cs typeface="Calibri"/>
              </a:rPr>
              <a:t> y </a:t>
            </a:r>
            <a:r>
              <a:rPr lang="en-US" dirty="0" err="1">
                <a:cs typeface="Calibri"/>
              </a:rPr>
              <a:t>numéricos</a:t>
            </a:r>
            <a:r>
              <a:rPr lang="en-US" dirty="0">
                <a:cs typeface="Calibri"/>
              </a:rPr>
              <a:t> (</a:t>
            </a:r>
            <a:r>
              <a:rPr lang="en-US" dirty="0" err="1">
                <a:cs typeface="Calibri"/>
              </a:rPr>
              <a:t>enteros</a:t>
            </a:r>
            <a:r>
              <a:rPr lang="en-US" dirty="0">
                <a:cs typeface="Calibri"/>
              </a:rPr>
              <a:t> y </a:t>
            </a:r>
            <a:r>
              <a:rPr lang="en-US" dirty="0" err="1">
                <a:cs typeface="Calibri"/>
              </a:rPr>
              <a:t>reales</a:t>
            </a:r>
            <a:r>
              <a:rPr lang="en-US" dirty="0">
                <a:cs typeface="Calibri"/>
              </a:rPr>
              <a:t>)</a:t>
            </a: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44721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911889"/>
            <a:ext cx="10515600" cy="4265074"/>
          </a:xfrm>
        </p:spPr>
        <p:txBody>
          <a:bodyPr anchor="t"/>
          <a:lstStyle/>
          <a:p>
            <a:r>
              <a:rPr lang="en-US" dirty="0" err="1">
                <a:cs typeface="Calibri"/>
              </a:rPr>
              <a:t>Análisis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estructural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Entre los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tipo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texto</a:t>
            </a:r>
            <a:r>
              <a:rPr lang="en-US" dirty="0">
                <a:cs typeface="Calibri"/>
              </a:rPr>
              <a:t>, hay </a:t>
            </a:r>
            <a:r>
              <a:rPr lang="en-US" dirty="0" err="1">
                <a:cs typeface="Calibri"/>
              </a:rPr>
              <a:t>algunos</a:t>
            </a:r>
            <a:r>
              <a:rPr lang="en-US" dirty="0">
                <a:cs typeface="Calibri"/>
              </a:rPr>
              <a:t> que </a:t>
            </a:r>
            <a:r>
              <a:rPr lang="en-US" dirty="0" err="1">
                <a:cs typeface="Calibri"/>
              </a:rPr>
              <a:t>corresponden</a:t>
            </a:r>
            <a:r>
              <a:rPr lang="en-US" dirty="0">
                <a:cs typeface="Calibri"/>
              </a:rPr>
              <a:t> a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cualitativos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esto</a:t>
            </a:r>
            <a:r>
              <a:rPr lang="en-US" dirty="0">
                <a:cs typeface="Calibri"/>
              </a:rPr>
              <a:t> es,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que </a:t>
            </a:r>
            <a:r>
              <a:rPr lang="en-US" dirty="0" err="1">
                <a:cs typeface="Calibri"/>
              </a:rPr>
              <a:t>nos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permiten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etiquetar</a:t>
            </a:r>
            <a:r>
              <a:rPr lang="en-US" dirty="0">
                <a:cs typeface="Calibri"/>
              </a:rPr>
              <a:t> y </a:t>
            </a:r>
            <a:r>
              <a:rPr lang="en-US" dirty="0" err="1">
                <a:cs typeface="Calibri"/>
              </a:rPr>
              <a:t>también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agrupar</a:t>
            </a:r>
            <a:r>
              <a:rPr lang="en-US" dirty="0">
                <a:cs typeface="Calibri"/>
              </a:rPr>
              <a:t> el resto de los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poder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hacer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distintos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análisis</a:t>
            </a:r>
            <a:r>
              <a:rPr lang="en-US" dirty="0">
                <a:cs typeface="Calibri"/>
              </a:rPr>
              <a:t>.</a:t>
            </a:r>
            <a:endParaRPr lang="en-US" dirty="0"/>
          </a:p>
          <a:p>
            <a:r>
              <a:rPr lang="en-US" dirty="0">
                <a:cs typeface="Calibri"/>
              </a:rPr>
              <a:t>Entre </a:t>
            </a:r>
            <a:r>
              <a:rPr lang="en-US" dirty="0" err="1">
                <a:cs typeface="Calibri"/>
              </a:rPr>
              <a:t>estos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tipos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tenemos</a:t>
            </a:r>
            <a:r>
              <a:rPr lang="en-US" dirty="0">
                <a:cs typeface="Calibri"/>
              </a:rPr>
              <a:t> por </a:t>
            </a:r>
            <a:r>
              <a:rPr lang="en-US" dirty="0" err="1">
                <a:cs typeface="Calibri"/>
              </a:rPr>
              <a:t>ej</a:t>
            </a:r>
            <a:r>
              <a:rPr lang="en-US" dirty="0">
                <a:cs typeface="Calibri"/>
              </a:rPr>
              <a:t>.: operation, </a:t>
            </a:r>
            <a:r>
              <a:rPr lang="en-US" dirty="0" err="1">
                <a:cs typeface="Calibri"/>
              </a:rPr>
              <a:t>property_type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country_name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state_name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place_name</a:t>
            </a:r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3099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 err="1">
                <a:cs typeface="Calibri"/>
              </a:rPr>
              <a:t>Completitud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  <a:endParaRPr lang="en-US">
              <a:cs typeface="Calibri"/>
            </a:endParaRPr>
          </a:p>
          <a:p>
            <a:endParaRPr lang="en-US" dirty="0">
              <a:cs typeface="Calibri" panose="020F0502020204030204"/>
            </a:endParaRPr>
          </a:p>
          <a:p>
            <a:r>
              <a:rPr lang="en-US" dirty="0" err="1">
                <a:cs typeface="Calibri" panose="020F0502020204030204"/>
              </a:rPr>
              <a:t>Hallamos</a:t>
            </a:r>
            <a:r>
              <a:rPr lang="en-US" dirty="0">
                <a:cs typeface="Calibri" panose="020F0502020204030204"/>
              </a:rPr>
              <a:t> que los </a:t>
            </a:r>
            <a:r>
              <a:rPr lang="en-US" dirty="0" err="1">
                <a:cs typeface="Calibri" panose="020F0502020204030204"/>
              </a:rPr>
              <a:t>datos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correspondientes</a:t>
            </a:r>
            <a:r>
              <a:rPr lang="en-US" dirty="0">
                <a:cs typeface="Calibri" panose="020F0502020204030204"/>
              </a:rPr>
              <a:t> al </a:t>
            </a:r>
            <a:r>
              <a:rPr lang="en-US" dirty="0" err="1">
                <a:cs typeface="Calibri" panose="020F0502020204030204"/>
              </a:rPr>
              <a:t>tipo</a:t>
            </a:r>
            <a:r>
              <a:rPr lang="en-US" dirty="0">
                <a:cs typeface="Calibri" panose="020F0502020204030204"/>
              </a:rPr>
              <a:t> de </a:t>
            </a:r>
            <a:r>
              <a:rPr lang="en-US" dirty="0" err="1">
                <a:cs typeface="Calibri" panose="020F0502020204030204"/>
              </a:rPr>
              <a:t>dato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texto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tenían</a:t>
            </a:r>
            <a:r>
              <a:rPr lang="en-US" dirty="0">
                <a:cs typeface="Calibri" panose="020F0502020204030204"/>
              </a:rPr>
              <a:t> un alto </a:t>
            </a:r>
            <a:r>
              <a:rPr lang="en-US" dirty="0" err="1">
                <a:cs typeface="Calibri" panose="020F0502020204030204"/>
              </a:rPr>
              <a:t>grado</a:t>
            </a:r>
            <a:r>
              <a:rPr lang="en-US" dirty="0">
                <a:cs typeface="Calibri" panose="020F0502020204030204"/>
              </a:rPr>
              <a:t> de </a:t>
            </a:r>
            <a:r>
              <a:rPr lang="en-US" dirty="0" err="1">
                <a:cs typeface="Calibri" panose="020F0502020204030204"/>
              </a:rPr>
              <a:t>completitud</a:t>
            </a:r>
            <a:r>
              <a:rPr lang="en-US" dirty="0">
                <a:cs typeface="Calibri" panose="020F0502020204030204"/>
              </a:rPr>
              <a:t> (superior al 95% en </a:t>
            </a:r>
            <a:r>
              <a:rPr lang="en-US" dirty="0" err="1">
                <a:cs typeface="Calibri" panose="020F0502020204030204"/>
              </a:rPr>
              <a:t>todos</a:t>
            </a:r>
            <a:r>
              <a:rPr lang="en-US" dirty="0">
                <a:cs typeface="Calibri" panose="020F0502020204030204"/>
              </a:rPr>
              <a:t> los </a:t>
            </a:r>
            <a:r>
              <a:rPr lang="en-US" dirty="0" err="1">
                <a:cs typeface="Calibri" panose="020F0502020204030204"/>
              </a:rPr>
              <a:t>casos</a:t>
            </a:r>
            <a:r>
              <a:rPr lang="en-US" dirty="0">
                <a:cs typeface="Calibri" panose="020F0502020204030204"/>
              </a:rPr>
              <a:t>)</a:t>
            </a:r>
          </a:p>
          <a:p>
            <a:r>
              <a:rPr lang="en-US" dirty="0">
                <a:cs typeface="Calibri" panose="020F0502020204030204"/>
              </a:rPr>
              <a:t>La mayor </a:t>
            </a:r>
            <a:r>
              <a:rPr lang="en-US" dirty="0" err="1">
                <a:cs typeface="Calibri" panose="020F0502020204030204"/>
              </a:rPr>
              <a:t>parte</a:t>
            </a:r>
            <a:r>
              <a:rPr lang="en-US" dirty="0">
                <a:cs typeface="Calibri" panose="020F0502020204030204"/>
              </a:rPr>
              <a:t> de </a:t>
            </a:r>
            <a:r>
              <a:rPr lang="en-US" dirty="0" err="1">
                <a:cs typeface="Calibri" panose="020F0502020204030204"/>
              </a:rPr>
              <a:t>faltantes</a:t>
            </a:r>
            <a:r>
              <a:rPr lang="en-US" dirty="0">
                <a:cs typeface="Calibri" panose="020F0502020204030204"/>
              </a:rPr>
              <a:t> se </a:t>
            </a:r>
            <a:r>
              <a:rPr lang="en-US" dirty="0" err="1">
                <a:cs typeface="Calibri" panose="020F0502020204030204"/>
              </a:rPr>
              <a:t>daban</a:t>
            </a:r>
            <a:r>
              <a:rPr lang="en-US" dirty="0">
                <a:cs typeface="Calibri" panose="020F0502020204030204"/>
              </a:rPr>
              <a:t> en los </a:t>
            </a:r>
            <a:r>
              <a:rPr lang="en-US" dirty="0" err="1">
                <a:cs typeface="Calibri" panose="020F0502020204030204"/>
              </a:rPr>
              <a:t>campos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númericos</a:t>
            </a:r>
            <a:r>
              <a:rPr lang="en-US" dirty="0">
                <a:cs typeface="Calibri" panose="020F0502020204030204"/>
              </a:rPr>
              <a:t>.</a:t>
            </a:r>
          </a:p>
          <a:p>
            <a:r>
              <a:rPr lang="en-US" dirty="0" err="1">
                <a:cs typeface="Calibri" panose="020F0502020204030204"/>
              </a:rPr>
              <a:t>Esto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último</a:t>
            </a:r>
            <a:r>
              <a:rPr lang="en-US" dirty="0">
                <a:cs typeface="Calibri" panose="020F0502020204030204"/>
              </a:rPr>
              <a:t> </a:t>
            </a:r>
            <a:r>
              <a:rPr lang="en-US" dirty="0" err="1">
                <a:cs typeface="Calibri" panose="020F0502020204030204"/>
              </a:rPr>
              <a:t>resulta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problemático</a:t>
            </a:r>
            <a:r>
              <a:rPr lang="en-US" dirty="0">
                <a:cs typeface="Calibri" panose="020F0502020204030204"/>
              </a:rPr>
              <a:t> para la </a:t>
            </a:r>
            <a:r>
              <a:rPr lang="en-US" dirty="0" err="1">
                <a:cs typeface="Calibri" panose="020F0502020204030204"/>
              </a:rPr>
              <a:t>finalidad</a:t>
            </a:r>
            <a:r>
              <a:rPr lang="en-US" dirty="0">
                <a:cs typeface="Calibri" panose="020F0502020204030204"/>
              </a:rPr>
              <a:t> del </a:t>
            </a:r>
            <a:r>
              <a:rPr lang="en-US" dirty="0" err="1">
                <a:cs typeface="Calibri" panose="020F0502020204030204"/>
              </a:rPr>
              <a:t>proyecto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ya</a:t>
            </a:r>
            <a:r>
              <a:rPr lang="en-US" dirty="0">
                <a:cs typeface="Calibri" panose="020F0502020204030204"/>
              </a:rPr>
              <a:t> que con </a:t>
            </a:r>
            <a:r>
              <a:rPr lang="en-US" dirty="0" err="1">
                <a:cs typeface="Calibri" panose="020F0502020204030204"/>
              </a:rPr>
              <a:t>pocos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datos</a:t>
            </a:r>
            <a:r>
              <a:rPr lang="en-US" dirty="0">
                <a:cs typeface="Calibri" panose="020F0502020204030204"/>
              </a:rPr>
              <a:t> de </a:t>
            </a:r>
            <a:r>
              <a:rPr lang="en-US" dirty="0" err="1">
                <a:cs typeface="Calibri" panose="020F0502020204030204"/>
              </a:rPr>
              <a:t>precios</a:t>
            </a:r>
            <a:r>
              <a:rPr lang="en-US" dirty="0">
                <a:cs typeface="Calibri" panose="020F0502020204030204"/>
              </a:rPr>
              <a:t>, no </a:t>
            </a:r>
            <a:r>
              <a:rPr lang="en-US" dirty="0" err="1">
                <a:cs typeface="Calibri" panose="020F0502020204030204"/>
              </a:rPr>
              <a:t>será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posible</a:t>
            </a:r>
            <a:r>
              <a:rPr lang="en-US" dirty="0">
                <a:cs typeface="Calibri" panose="020F0502020204030204"/>
              </a:rPr>
              <a:t> </a:t>
            </a:r>
            <a:r>
              <a:rPr lang="en-US" dirty="0" err="1">
                <a:cs typeface="Calibri" panose="020F0502020204030204"/>
              </a:rPr>
              <a:t>poder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predecir</a:t>
            </a:r>
            <a:r>
              <a:rPr lang="en-US" dirty="0">
                <a:cs typeface="Calibri" panose="020F0502020204030204"/>
              </a:rPr>
              <a:t> con </a:t>
            </a:r>
            <a:r>
              <a:rPr lang="en-US" dirty="0" err="1">
                <a:cs typeface="Calibri" panose="020F0502020204030204"/>
              </a:rPr>
              <a:t>mucha</a:t>
            </a:r>
            <a:r>
              <a:rPr lang="en-US" dirty="0">
                <a:cs typeface="Calibri" panose="020F0502020204030204"/>
              </a:rPr>
              <a:t> </a:t>
            </a:r>
            <a:r>
              <a:rPr lang="en-US" dirty="0" err="1">
                <a:cs typeface="Calibri" panose="020F0502020204030204"/>
              </a:rPr>
              <a:t>precisión</a:t>
            </a:r>
            <a:r>
              <a:rPr lang="en-US" dirty="0">
                <a:cs typeface="Calibri" panose="020F0502020204030204"/>
              </a:rPr>
              <a:t> el </a:t>
            </a:r>
            <a:r>
              <a:rPr lang="en-US" dirty="0" err="1">
                <a:cs typeface="Calibri" panose="020F0502020204030204"/>
              </a:rPr>
              <a:t>precio</a:t>
            </a:r>
            <a:r>
              <a:rPr lang="en-US" dirty="0">
                <a:cs typeface="Calibri" panose="020F0502020204030204"/>
              </a:rPr>
              <a:t> por el metro </a:t>
            </a:r>
            <a:r>
              <a:rPr lang="en-US" dirty="0" err="1">
                <a:cs typeface="Calibri" panose="020F0502020204030204"/>
              </a:rPr>
              <a:t>cuadrado</a:t>
            </a:r>
            <a:r>
              <a:rPr lang="en-US" dirty="0">
                <a:cs typeface="Calibri" panose="020F0502020204030204"/>
              </a:rPr>
              <a:t> para una </a:t>
            </a:r>
            <a:r>
              <a:rPr lang="en-US" dirty="0" err="1">
                <a:cs typeface="Calibri" panose="020F0502020204030204"/>
              </a:rPr>
              <a:t>propiedad</a:t>
            </a:r>
            <a:r>
              <a:rPr lang="en-US" dirty="0">
                <a:cs typeface="Calibri" panose="020F050202020403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95492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>
                <a:cs typeface="Calibri"/>
              </a:rPr>
              <a:t>Como resolver el </a:t>
            </a:r>
            <a:r>
              <a:rPr lang="en-US" dirty="0" err="1">
                <a:cs typeface="Calibri"/>
              </a:rPr>
              <a:t>problema</a:t>
            </a:r>
            <a:r>
              <a:rPr lang="en-US" dirty="0">
                <a:cs typeface="Calibri"/>
              </a:rPr>
              <a:t> de la </a:t>
            </a:r>
            <a:r>
              <a:rPr lang="en-US" dirty="0" err="1">
                <a:cs typeface="Calibri"/>
              </a:rPr>
              <a:t>falta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datos</a:t>
            </a:r>
            <a:endParaRPr lang="en-US">
              <a:cs typeface="Calibri"/>
            </a:endParaRPr>
          </a:p>
          <a:p>
            <a:endParaRPr lang="en-US" dirty="0">
              <a:cs typeface="Calibri" panose="020F0502020204030204"/>
            </a:endParaRPr>
          </a:p>
          <a:p>
            <a:r>
              <a:rPr lang="en-US" dirty="0" err="1">
                <a:cs typeface="Calibri"/>
              </a:rPr>
              <a:t>Haciendo</a:t>
            </a:r>
            <a:r>
              <a:rPr lang="en-US" dirty="0">
                <a:cs typeface="Calibri"/>
              </a:rPr>
              <a:t> un </a:t>
            </a:r>
            <a:r>
              <a:rPr lang="en-US" dirty="0" err="1">
                <a:cs typeface="Calibri"/>
              </a:rPr>
              <a:t>análisis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sobre</a:t>
            </a:r>
            <a:r>
              <a:rPr lang="en-US" dirty="0">
                <a:cs typeface="Calibri"/>
              </a:rPr>
              <a:t> la </a:t>
            </a:r>
            <a:r>
              <a:rPr lang="en-US" dirty="0" err="1">
                <a:cs typeface="Calibri"/>
              </a:rPr>
              <a:t>composición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que </a:t>
            </a:r>
            <a:r>
              <a:rPr lang="en-US" dirty="0" err="1">
                <a:cs typeface="Calibri"/>
              </a:rPr>
              <a:t>tenemos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cómo</a:t>
            </a:r>
            <a:r>
              <a:rPr lang="en-US" dirty="0">
                <a:cs typeface="Calibri"/>
              </a:rPr>
              <a:t> se </a:t>
            </a:r>
            <a:r>
              <a:rPr lang="en-US" dirty="0" err="1">
                <a:cs typeface="Calibri"/>
              </a:rPr>
              <a:t>relacionan</a:t>
            </a:r>
            <a:r>
              <a:rPr lang="en-US" dirty="0">
                <a:cs typeface="Calibri"/>
              </a:rPr>
              <a:t> entre </a:t>
            </a:r>
            <a:r>
              <a:rPr lang="en-US" dirty="0" err="1">
                <a:cs typeface="Calibri"/>
              </a:rPr>
              <a:t>sí</a:t>
            </a:r>
            <a:r>
              <a:rPr lang="en-US" dirty="0">
                <a:cs typeface="Calibri"/>
              </a:rPr>
              <a:t> y </a:t>
            </a:r>
            <a:r>
              <a:rPr lang="en-US" dirty="0" err="1">
                <a:cs typeface="Calibri"/>
              </a:rPr>
              <a:t>cómo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podemos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obtener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algunos</a:t>
            </a:r>
            <a:r>
              <a:rPr lang="en-US" dirty="0">
                <a:cs typeface="Calibri"/>
              </a:rPr>
              <a:t> a </a:t>
            </a:r>
            <a:r>
              <a:rPr lang="en-US" dirty="0" err="1">
                <a:cs typeface="Calibri"/>
              </a:rPr>
              <a:t>partir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otros</a:t>
            </a:r>
            <a:r>
              <a:rPr lang="en-US" dirty="0">
                <a:cs typeface="Calibri"/>
              </a:rPr>
              <a:t>.</a:t>
            </a:r>
          </a:p>
          <a:p>
            <a:r>
              <a:rPr lang="en-US" dirty="0">
                <a:cs typeface="Calibri"/>
              </a:rPr>
              <a:t>Para </a:t>
            </a:r>
            <a:r>
              <a:rPr lang="en-US" dirty="0" err="1">
                <a:cs typeface="Calibri"/>
              </a:rPr>
              <a:t>facilitar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este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trabajo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utilizamos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herramientas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tecnológicas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como</a:t>
            </a:r>
            <a:r>
              <a:rPr lang="en-US" dirty="0">
                <a:cs typeface="Calibri"/>
              </a:rPr>
              <a:t> Python y </a:t>
            </a:r>
            <a:r>
              <a:rPr lang="en-US" dirty="0" err="1">
                <a:cs typeface="Calibri"/>
              </a:rPr>
              <a:t>varias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bibliotecas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creadas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este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lenguaje</a:t>
            </a:r>
            <a:r>
              <a:rPr lang="en-US" dirty="0"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79118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 err="1">
                <a:cs typeface="Calibri"/>
              </a:rPr>
              <a:t>Simplificación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Al </a:t>
            </a:r>
            <a:r>
              <a:rPr lang="en-US" dirty="0" err="1">
                <a:cs typeface="Calibri"/>
              </a:rPr>
              <a:t>hacer</a:t>
            </a:r>
            <a:r>
              <a:rPr lang="en-US" dirty="0">
                <a:cs typeface="Calibri"/>
              </a:rPr>
              <a:t> un </a:t>
            </a:r>
            <a:r>
              <a:rPr lang="en-US" dirty="0" err="1">
                <a:cs typeface="Calibri"/>
              </a:rPr>
              <a:t>análisis</a:t>
            </a:r>
            <a:r>
              <a:rPr lang="en-US" dirty="0">
                <a:cs typeface="Calibri"/>
              </a:rPr>
              <a:t> del </a:t>
            </a:r>
            <a:r>
              <a:rPr lang="en-US" dirty="0" err="1">
                <a:cs typeface="Calibri"/>
              </a:rPr>
              <a:t>objetivo</a:t>
            </a:r>
            <a:r>
              <a:rPr lang="en-US" dirty="0">
                <a:cs typeface="Calibri"/>
              </a:rPr>
              <a:t> del </a:t>
            </a:r>
            <a:r>
              <a:rPr lang="en-US" dirty="0" err="1">
                <a:cs typeface="Calibri"/>
              </a:rPr>
              <a:t>proyecto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decidimos</a:t>
            </a:r>
            <a:r>
              <a:rPr lang="en-US" dirty="0">
                <a:cs typeface="Calibri"/>
              </a:rPr>
              <a:t> que las </a:t>
            </a:r>
            <a:r>
              <a:rPr lang="en-US" dirty="0" err="1">
                <a:cs typeface="Calibri"/>
              </a:rPr>
              <a:t>columnas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correspondientes</a:t>
            </a:r>
            <a:r>
              <a:rPr lang="en-US" dirty="0">
                <a:cs typeface="Calibri"/>
              </a:rPr>
              <a:t> a la </a:t>
            </a:r>
            <a:r>
              <a:rPr lang="en-US" dirty="0" err="1">
                <a:cs typeface="Calibri"/>
              </a:rPr>
              <a:t>foto</a:t>
            </a:r>
            <a:r>
              <a:rPr lang="en-US" dirty="0">
                <a:cs typeface="Calibri"/>
              </a:rPr>
              <a:t> de la </a:t>
            </a:r>
            <a:r>
              <a:rPr lang="en-US" dirty="0" err="1">
                <a:cs typeface="Calibri"/>
              </a:rPr>
              <a:t>propiedad</a:t>
            </a:r>
            <a:r>
              <a:rPr lang="en-US" dirty="0">
                <a:cs typeface="Calibri"/>
              </a:rPr>
              <a:t> (</a:t>
            </a:r>
            <a:r>
              <a:rPr lang="en-US" dirty="0" err="1">
                <a:cs typeface="Calibri"/>
              </a:rPr>
              <a:t>image_thumbnail</a:t>
            </a:r>
            <a:r>
              <a:rPr lang="en-US" dirty="0">
                <a:cs typeface="Calibri"/>
              </a:rPr>
              <a:t>) y de la </a:t>
            </a:r>
            <a:r>
              <a:rPr lang="en-US" dirty="0" err="1">
                <a:cs typeface="Calibri"/>
              </a:rPr>
              <a:t>dirección</a:t>
            </a:r>
            <a:r>
              <a:rPr lang="en-US" dirty="0">
                <a:cs typeface="Calibri"/>
              </a:rPr>
              <a:t> web de la </a:t>
            </a:r>
            <a:r>
              <a:rPr lang="en-US" dirty="0" err="1">
                <a:cs typeface="Calibri"/>
              </a:rPr>
              <a:t>propiedad</a:t>
            </a:r>
            <a:r>
              <a:rPr lang="en-US" dirty="0">
                <a:cs typeface="Calibri"/>
              </a:rPr>
              <a:t> en el sitio de </a:t>
            </a:r>
            <a:r>
              <a:rPr lang="en-US" dirty="0" err="1">
                <a:cs typeface="Calibri"/>
              </a:rPr>
              <a:t>properatti</a:t>
            </a:r>
            <a:r>
              <a:rPr lang="en-US" dirty="0">
                <a:cs typeface="Calibri"/>
              </a:rPr>
              <a:t> (</a:t>
            </a:r>
            <a:r>
              <a:rPr lang="en-US" dirty="0" err="1">
                <a:ea typeface="+mn-lt"/>
                <a:cs typeface="+mn-lt"/>
              </a:rPr>
              <a:t>properati_url</a:t>
            </a:r>
            <a:r>
              <a:rPr lang="en-US" dirty="0">
                <a:ea typeface="+mn-lt"/>
                <a:cs typeface="+mn-lt"/>
              </a:rPr>
              <a:t>) no </a:t>
            </a:r>
            <a:r>
              <a:rPr lang="en-US" dirty="0" err="1">
                <a:ea typeface="+mn-lt"/>
                <a:cs typeface="+mn-lt"/>
              </a:rPr>
              <a:t>eran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necesarias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Debido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esto</a:t>
            </a:r>
            <a:r>
              <a:rPr lang="en-US" dirty="0">
                <a:ea typeface="+mn-lt"/>
                <a:cs typeface="+mn-lt"/>
              </a:rPr>
              <a:t> las </a:t>
            </a:r>
            <a:r>
              <a:rPr lang="en-US" dirty="0" err="1">
                <a:ea typeface="+mn-lt"/>
                <a:cs typeface="+mn-lt"/>
              </a:rPr>
              <a:t>eliminamos</a:t>
            </a:r>
            <a:r>
              <a:rPr lang="en-US" dirty="0">
                <a:ea typeface="+mn-lt"/>
                <a:cs typeface="+mn-lt"/>
              </a:rPr>
              <a:t> del data frame para </a:t>
            </a:r>
            <a:r>
              <a:rPr lang="en-US" dirty="0" err="1">
                <a:ea typeface="+mn-lt"/>
                <a:cs typeface="+mn-lt"/>
              </a:rPr>
              <a:t>alivianar</a:t>
            </a:r>
            <a:r>
              <a:rPr lang="en-US" dirty="0">
                <a:ea typeface="+mn-lt"/>
                <a:cs typeface="+mn-lt"/>
              </a:rPr>
              <a:t> el </a:t>
            </a:r>
            <a:r>
              <a:rPr lang="en-US" dirty="0" err="1">
                <a:ea typeface="+mn-lt"/>
                <a:cs typeface="+mn-lt"/>
              </a:rPr>
              <a:t>procesamiento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r>
              <a:rPr lang="en-US" dirty="0" err="1">
                <a:ea typeface="+mn-lt"/>
                <a:cs typeface="+mn-lt"/>
              </a:rPr>
              <a:t>Eliminamos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también</a:t>
            </a:r>
            <a:r>
              <a:rPr lang="en-US" dirty="0">
                <a:ea typeface="+mn-lt"/>
                <a:cs typeface="+mn-lt"/>
              </a:rPr>
              <a:t> el </a:t>
            </a:r>
            <a:r>
              <a:rPr lang="en-US" dirty="0" err="1">
                <a:ea typeface="+mn-lt"/>
                <a:cs typeface="+mn-lt"/>
              </a:rPr>
              <a:t>dato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piso</a:t>
            </a:r>
            <a:r>
              <a:rPr lang="en-US" dirty="0">
                <a:ea typeface="+mn-lt"/>
                <a:cs typeface="+mn-lt"/>
              </a:rPr>
              <a:t> (floor) </a:t>
            </a:r>
            <a:r>
              <a:rPr lang="en-US" dirty="0" err="1">
                <a:ea typeface="+mn-lt"/>
                <a:cs typeface="+mn-lt"/>
              </a:rPr>
              <a:t>ya</a:t>
            </a:r>
            <a:r>
              <a:rPr lang="en-US" dirty="0">
                <a:ea typeface="+mn-lt"/>
                <a:cs typeface="+mn-lt"/>
              </a:rPr>
              <a:t> que </a:t>
            </a:r>
            <a:r>
              <a:rPr lang="en-US" dirty="0" err="1">
                <a:ea typeface="+mn-lt"/>
                <a:cs typeface="+mn-lt"/>
              </a:rPr>
              <a:t>tampoco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vimos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utilidad</a:t>
            </a:r>
            <a:r>
              <a:rPr lang="en-US" dirty="0">
                <a:ea typeface="+mn-lt"/>
                <a:cs typeface="+mn-lt"/>
              </a:rPr>
              <a:t> a la hora de </a:t>
            </a:r>
            <a:r>
              <a:rPr lang="en-US" dirty="0" err="1">
                <a:ea typeface="+mn-lt"/>
                <a:cs typeface="+mn-lt"/>
              </a:rPr>
              <a:t>realizar</a:t>
            </a:r>
            <a:r>
              <a:rPr lang="en-US" dirty="0">
                <a:ea typeface="+mn-lt"/>
                <a:cs typeface="+mn-lt"/>
              </a:rPr>
              <a:t> una </a:t>
            </a:r>
            <a:r>
              <a:rPr lang="en-US" dirty="0" err="1">
                <a:ea typeface="+mn-lt"/>
                <a:cs typeface="+mn-lt"/>
              </a:rPr>
              <a:t>cotización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propiedades</a:t>
            </a:r>
            <a:r>
              <a:rPr lang="en-US" dirty="0">
                <a:ea typeface="+mn-lt"/>
                <a:cs typeface="+mn-lt"/>
              </a:rPr>
              <a:t> y </a:t>
            </a:r>
            <a:r>
              <a:rPr lang="en-US" dirty="0" err="1">
                <a:ea typeface="+mn-lt"/>
                <a:cs typeface="+mn-lt"/>
              </a:rPr>
              <a:t>su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nivel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completitud</a:t>
            </a:r>
            <a:r>
              <a:rPr lang="en-US" dirty="0">
                <a:ea typeface="+mn-lt"/>
                <a:cs typeface="+mn-lt"/>
              </a:rPr>
              <a:t> era </a:t>
            </a:r>
            <a:r>
              <a:rPr lang="en-US" dirty="0" err="1">
                <a:ea typeface="+mn-lt"/>
                <a:cs typeface="+mn-lt"/>
              </a:rPr>
              <a:t>muy</a:t>
            </a:r>
            <a:r>
              <a:rPr lang="en-US" dirty="0">
                <a:ea typeface="+mn-lt"/>
                <a:cs typeface="+mn-lt"/>
              </a:rPr>
              <a:t> bajo.</a:t>
            </a:r>
          </a:p>
        </p:txBody>
      </p:sp>
    </p:spTree>
    <p:extLst>
      <p:ext uri="{BB962C8B-B14F-4D97-AF65-F5344CB8AC3E}">
        <p14:creationId xmlns:p14="http://schemas.microsoft.com/office/powerpoint/2010/main" val="3583675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>
                <a:cs typeface="Calibri"/>
              </a:rPr>
              <a:t>¿</a:t>
            </a:r>
            <a:r>
              <a:rPr lang="en-US" dirty="0" err="1">
                <a:cs typeface="Calibri"/>
              </a:rPr>
              <a:t>Cómo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completar</a:t>
            </a:r>
            <a:r>
              <a:rPr lang="en-US" dirty="0">
                <a:cs typeface="Calibri"/>
              </a:rPr>
              <a:t> los </a:t>
            </a:r>
            <a:r>
              <a:rPr lang="en-US" dirty="0" err="1">
                <a:cs typeface="Calibri"/>
              </a:rPr>
              <a:t>valores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faltantes</a:t>
            </a:r>
            <a:r>
              <a:rPr lang="en-US" dirty="0">
                <a:cs typeface="Calibri"/>
              </a:rPr>
              <a:t>?</a:t>
            </a: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La </a:t>
            </a:r>
            <a:r>
              <a:rPr lang="en-US" dirty="0" err="1">
                <a:cs typeface="Calibri"/>
              </a:rPr>
              <a:t>estrategia</a:t>
            </a:r>
            <a:r>
              <a:rPr lang="en-US" dirty="0">
                <a:cs typeface="Calibri"/>
              </a:rPr>
              <a:t> que </a:t>
            </a:r>
            <a:r>
              <a:rPr lang="en-US" dirty="0" err="1">
                <a:cs typeface="Calibri"/>
              </a:rPr>
              <a:t>seguimos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fue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principalmente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completar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a </a:t>
            </a:r>
            <a:r>
              <a:rPr lang="en-US" dirty="0" err="1">
                <a:cs typeface="Calibri"/>
              </a:rPr>
              <a:t>partir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otros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presentes</a:t>
            </a:r>
            <a:r>
              <a:rPr lang="en-US" dirty="0">
                <a:cs typeface="Calibri"/>
              </a:rPr>
              <a:t> en el set de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.</a:t>
            </a:r>
          </a:p>
          <a:p>
            <a:r>
              <a:rPr lang="en-US" dirty="0" err="1">
                <a:cs typeface="Calibri"/>
              </a:rPr>
              <a:t>Pudimos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establecer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teniendo</a:t>
            </a:r>
            <a:r>
              <a:rPr lang="en-US" dirty="0">
                <a:cs typeface="Calibri"/>
              </a:rPr>
              <a:t> en </a:t>
            </a:r>
            <a:r>
              <a:rPr lang="en-US" dirty="0" err="1">
                <a:cs typeface="Calibri"/>
              </a:rPr>
              <a:t>cuenta</a:t>
            </a:r>
            <a:r>
              <a:rPr lang="en-US" dirty="0">
                <a:cs typeface="Calibri"/>
              </a:rPr>
              <a:t> el </a:t>
            </a:r>
            <a:r>
              <a:rPr lang="en-US" dirty="0" err="1">
                <a:cs typeface="Calibri"/>
              </a:rPr>
              <a:t>nombre</a:t>
            </a:r>
            <a:r>
              <a:rPr lang="en-US" dirty="0">
                <a:cs typeface="Calibri"/>
              </a:rPr>
              <a:t> de las </a:t>
            </a:r>
            <a:r>
              <a:rPr lang="en-US" dirty="0" err="1">
                <a:cs typeface="Calibri"/>
              </a:rPr>
              <a:t>columnas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relaciones</a:t>
            </a:r>
            <a:r>
              <a:rPr lang="en-US" dirty="0">
                <a:cs typeface="Calibri"/>
              </a:rPr>
              <a:t> entre </a:t>
            </a:r>
            <a:r>
              <a:rPr lang="en-US" dirty="0" err="1">
                <a:cs typeface="Calibri"/>
              </a:rPr>
              <a:t>ellos</a:t>
            </a:r>
            <a:r>
              <a:rPr lang="en-US" dirty="0">
                <a:cs typeface="Calibri"/>
              </a:rPr>
              <a:t> y con </a:t>
            </a:r>
            <a:r>
              <a:rPr lang="en-US" dirty="0" err="1">
                <a:cs typeface="Calibri"/>
              </a:rPr>
              <a:t>esto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poder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calcular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algunos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en base a </a:t>
            </a:r>
            <a:r>
              <a:rPr lang="en-US" dirty="0" err="1">
                <a:cs typeface="Calibri"/>
              </a:rPr>
              <a:t>otros</a:t>
            </a:r>
            <a:r>
              <a:rPr lang="en-US" dirty="0">
                <a:cs typeface="Calibri"/>
              </a:rPr>
              <a:t>.</a:t>
            </a:r>
          </a:p>
          <a:p>
            <a:r>
              <a:rPr lang="en-US" dirty="0" err="1">
                <a:cs typeface="Calibri"/>
              </a:rPr>
              <a:t>Asi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mismo</a:t>
            </a:r>
            <a:r>
              <a:rPr lang="en-US" dirty="0">
                <a:cs typeface="Calibri"/>
              </a:rPr>
              <a:t>, el set de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contaba</a:t>
            </a:r>
            <a:r>
              <a:rPr lang="en-US" dirty="0">
                <a:cs typeface="Calibri"/>
              </a:rPr>
              <a:t> con una </a:t>
            </a:r>
            <a:r>
              <a:rPr lang="en-US" dirty="0" err="1">
                <a:cs typeface="Calibri"/>
              </a:rPr>
              <a:t>columna</a:t>
            </a:r>
            <a:r>
              <a:rPr lang="en-US" dirty="0">
                <a:cs typeface="Calibri"/>
              </a:rPr>
              <a:t> (description) que </a:t>
            </a:r>
            <a:r>
              <a:rPr lang="en-US" dirty="0" err="1">
                <a:cs typeface="Calibri"/>
              </a:rPr>
              <a:t>contenía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información</a:t>
            </a:r>
            <a:r>
              <a:rPr lang="en-US" dirty="0">
                <a:cs typeface="Calibri"/>
              </a:rPr>
              <a:t> en </a:t>
            </a:r>
            <a:r>
              <a:rPr lang="en-US" dirty="0" err="1">
                <a:cs typeface="Calibri"/>
              </a:rPr>
              <a:t>formato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texto</a:t>
            </a:r>
            <a:r>
              <a:rPr lang="en-US" dirty="0">
                <a:cs typeface="Calibri"/>
              </a:rPr>
              <a:t> del </a:t>
            </a:r>
            <a:r>
              <a:rPr lang="en-US" dirty="0" err="1">
                <a:cs typeface="Calibri"/>
              </a:rPr>
              <a:t>cuál</a:t>
            </a:r>
            <a:r>
              <a:rPr lang="en-US" dirty="0">
                <a:cs typeface="Calibri"/>
              </a:rPr>
              <a:t> se </a:t>
            </a:r>
            <a:r>
              <a:rPr lang="en-US" dirty="0" err="1">
                <a:cs typeface="Calibri"/>
              </a:rPr>
              <a:t>podía</a:t>
            </a:r>
            <a:r>
              <a:rPr lang="en-US" dirty="0">
                <a:cs typeface="Calibri"/>
              </a:rPr>
              <a:t> </a:t>
            </a:r>
            <a:r>
              <a:rPr lang="en-US" dirty="0" err="1">
                <a:cs typeface="Calibri"/>
              </a:rPr>
              <a:t>utilizar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inferir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otros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40946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>
                <a:ea typeface="+mn-lt"/>
                <a:cs typeface="+mn-lt"/>
              </a:rPr>
              <a:t>¿</a:t>
            </a:r>
            <a:r>
              <a:rPr lang="en-US" dirty="0" err="1">
                <a:ea typeface="+mn-lt"/>
                <a:cs typeface="+mn-lt"/>
              </a:rPr>
              <a:t>Cómo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completar</a:t>
            </a:r>
            <a:r>
              <a:rPr lang="en-US" dirty="0">
                <a:ea typeface="+mn-lt"/>
                <a:cs typeface="+mn-lt"/>
              </a:rPr>
              <a:t> los </a:t>
            </a:r>
            <a:r>
              <a:rPr lang="en-US" dirty="0" err="1">
                <a:ea typeface="+mn-lt"/>
                <a:cs typeface="+mn-lt"/>
              </a:rPr>
              <a:t>valores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faltantes</a:t>
            </a:r>
            <a:r>
              <a:rPr lang="en-US" dirty="0">
                <a:ea typeface="+mn-lt"/>
                <a:cs typeface="+mn-lt"/>
              </a:rPr>
              <a:t>?</a:t>
            </a:r>
            <a:endParaRPr lang="es-ES" dirty="0">
              <a:ea typeface="+mn-lt"/>
              <a:cs typeface="+mn-lt"/>
            </a:endParaRPr>
          </a:p>
          <a:p>
            <a:endParaRPr lang="en-US" dirty="0">
              <a:cs typeface="Calibri"/>
            </a:endParaRPr>
          </a:p>
          <a:p>
            <a:r>
              <a:rPr lang="en-US" dirty="0" err="1">
                <a:cs typeface="Calibri"/>
              </a:rPr>
              <a:t>Relacionando</a:t>
            </a:r>
            <a:r>
              <a:rPr lang="en-US" dirty="0">
                <a:cs typeface="Calibri"/>
              </a:rPr>
              <a:t> 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por </a:t>
            </a:r>
            <a:r>
              <a:rPr lang="en-US" dirty="0" err="1">
                <a:cs typeface="Calibri"/>
              </a:rPr>
              <a:t>su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nombre</a:t>
            </a:r>
            <a:endParaRPr lang="en-US">
              <a:cs typeface="Calibri"/>
            </a:endParaRP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En la </a:t>
            </a:r>
            <a:r>
              <a:rPr lang="en-US" dirty="0" err="1">
                <a:cs typeface="Calibri"/>
              </a:rPr>
              <a:t>mayoría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estos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casos</a:t>
            </a:r>
            <a:r>
              <a:rPr lang="en-US" dirty="0">
                <a:cs typeface="Calibri"/>
              </a:rPr>
              <a:t>, la </a:t>
            </a:r>
            <a:r>
              <a:rPr lang="en-US" dirty="0" err="1">
                <a:cs typeface="Calibri"/>
              </a:rPr>
              <a:t>relación</a:t>
            </a:r>
            <a:r>
              <a:rPr lang="en-US" dirty="0">
                <a:cs typeface="Calibri"/>
              </a:rPr>
              <a:t> se </a:t>
            </a:r>
            <a:r>
              <a:rPr lang="en-US" dirty="0" err="1">
                <a:cs typeface="Calibri"/>
              </a:rPr>
              <a:t>daba</a:t>
            </a:r>
            <a:r>
              <a:rPr lang="en-US" dirty="0">
                <a:cs typeface="Calibri"/>
              </a:rPr>
              <a:t> por una </a:t>
            </a:r>
            <a:r>
              <a:rPr lang="en-US" dirty="0" err="1">
                <a:cs typeface="Calibri"/>
              </a:rPr>
              <a:t>cuenta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matemática</a:t>
            </a:r>
            <a:r>
              <a:rPr lang="en-US" dirty="0">
                <a:cs typeface="Calibri"/>
              </a:rPr>
              <a:t>, en la </a:t>
            </a:r>
            <a:r>
              <a:rPr lang="en-US" dirty="0" err="1">
                <a:cs typeface="Calibri"/>
              </a:rPr>
              <a:t>cuál</a:t>
            </a:r>
            <a:r>
              <a:rPr lang="en-US" dirty="0">
                <a:cs typeface="Calibri"/>
              </a:rPr>
              <a:t> a </a:t>
            </a:r>
            <a:r>
              <a:rPr lang="en-US" dirty="0" err="1">
                <a:cs typeface="Calibri"/>
              </a:rPr>
              <a:t>partir</a:t>
            </a:r>
            <a:r>
              <a:rPr lang="en-US" dirty="0">
                <a:cs typeface="Calibri"/>
              </a:rPr>
              <a:t> de dos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se </a:t>
            </a:r>
            <a:r>
              <a:rPr lang="en-US" dirty="0" err="1">
                <a:cs typeface="Calibri"/>
              </a:rPr>
              <a:t>obtenía</a:t>
            </a:r>
            <a:r>
              <a:rPr lang="en-US" dirty="0">
                <a:cs typeface="Calibri"/>
              </a:rPr>
              <a:t> un </a:t>
            </a:r>
            <a:r>
              <a:rPr lang="en-US" dirty="0" err="1">
                <a:cs typeface="Calibri"/>
              </a:rPr>
              <a:t>tercero</a:t>
            </a:r>
            <a:r>
              <a:rPr lang="en-US" dirty="0">
                <a:cs typeface="Calibri"/>
              </a:rPr>
              <a:t>.</a:t>
            </a:r>
          </a:p>
          <a:p>
            <a:r>
              <a:rPr lang="en-US" dirty="0">
                <a:cs typeface="Calibri"/>
              </a:rPr>
              <a:t>Por </a:t>
            </a:r>
            <a:r>
              <a:rPr lang="en-US" dirty="0" err="1">
                <a:cs typeface="Calibri"/>
              </a:rPr>
              <a:t>ej</a:t>
            </a:r>
            <a:r>
              <a:rPr lang="en-US" dirty="0">
                <a:cs typeface="Calibri"/>
              </a:rPr>
              <a:t>: </a:t>
            </a:r>
            <a:r>
              <a:rPr lang="en-US" sz="2000" dirty="0">
                <a:latin typeface="Consolas"/>
                <a:cs typeface="Calibri"/>
              </a:rPr>
              <a:t>price_usd_per_m2 * surface_total_in_m2 = </a:t>
            </a:r>
            <a:r>
              <a:rPr lang="en-US" sz="2000" dirty="0" err="1">
                <a:latin typeface="Consolas"/>
                <a:cs typeface="Calibri"/>
              </a:rPr>
              <a:t>price_aprox_usd</a:t>
            </a:r>
          </a:p>
          <a:p>
            <a:r>
              <a:rPr lang="en-US" dirty="0" err="1">
                <a:latin typeface="Calibri"/>
                <a:cs typeface="Calibri"/>
              </a:rPr>
              <a:t>Algunos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lang="en-US" dirty="0" err="1">
                <a:latin typeface="Calibri"/>
                <a:cs typeface="Calibri"/>
              </a:rPr>
              <a:t>datos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lang="en-US" dirty="0" err="1">
                <a:latin typeface="Calibri"/>
                <a:cs typeface="Calibri"/>
              </a:rPr>
              <a:t>eran</a:t>
            </a:r>
            <a:r>
              <a:rPr lang="en-US" dirty="0">
                <a:latin typeface="Calibri"/>
                <a:cs typeface="Calibri"/>
              </a:rPr>
              <a:t> la </a:t>
            </a:r>
            <a:r>
              <a:rPr lang="en-US" dirty="0" err="1">
                <a:latin typeface="Calibri"/>
                <a:cs typeface="Calibri"/>
              </a:rPr>
              <a:t>unión</a:t>
            </a:r>
            <a:r>
              <a:rPr lang="en-US" dirty="0">
                <a:latin typeface="Calibri"/>
                <a:cs typeface="Calibri"/>
              </a:rPr>
              <a:t> de </a:t>
            </a:r>
            <a:r>
              <a:rPr lang="en-US" dirty="0" err="1">
                <a:latin typeface="Calibri"/>
                <a:cs typeface="Calibri"/>
              </a:rPr>
              <a:t>otros</a:t>
            </a:r>
            <a:r>
              <a:rPr lang="en-US" dirty="0">
                <a:latin typeface="Calibri"/>
                <a:cs typeface="Calibri"/>
              </a:rPr>
              <a:t>, al </a:t>
            </a:r>
            <a:r>
              <a:rPr lang="en-US" dirty="0" err="1">
                <a:latin typeface="Calibri"/>
                <a:cs typeface="Calibri"/>
              </a:rPr>
              <a:t>desagregar</a:t>
            </a:r>
            <a:r>
              <a:rPr lang="en-US" dirty="0">
                <a:latin typeface="Calibri"/>
                <a:cs typeface="Calibri"/>
              </a:rPr>
              <a:t> los </a:t>
            </a:r>
            <a:r>
              <a:rPr lang="en-US" dirty="0" err="1">
                <a:latin typeface="Calibri"/>
                <a:cs typeface="Calibri"/>
              </a:rPr>
              <a:t>primeros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lang="en-US" dirty="0" err="1">
                <a:latin typeface="Calibri"/>
                <a:cs typeface="Calibri"/>
              </a:rPr>
              <a:t>pudimos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lang="en-US" dirty="0" err="1">
                <a:latin typeface="Calibri"/>
                <a:cs typeface="Calibri"/>
              </a:rPr>
              <a:t>obtener</a:t>
            </a:r>
            <a:r>
              <a:rPr lang="en-US" dirty="0">
                <a:latin typeface="Calibri"/>
                <a:cs typeface="Calibri"/>
              </a:rPr>
              <a:t> los </a:t>
            </a:r>
            <a:r>
              <a:rPr lang="en-US" dirty="0" err="1">
                <a:latin typeface="Calibri"/>
                <a:cs typeface="Calibri"/>
              </a:rPr>
              <a:t>derivados</a:t>
            </a:r>
            <a:endParaRPr lang="en-US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4995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>
                <a:ea typeface="+mn-lt"/>
                <a:cs typeface="+mn-lt"/>
              </a:rPr>
              <a:t>¿</a:t>
            </a:r>
            <a:r>
              <a:rPr lang="en-US" dirty="0" err="1">
                <a:ea typeface="+mn-lt"/>
                <a:cs typeface="+mn-lt"/>
              </a:rPr>
              <a:t>Cómo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completar</a:t>
            </a:r>
            <a:r>
              <a:rPr lang="en-US" dirty="0">
                <a:ea typeface="+mn-lt"/>
                <a:cs typeface="+mn-lt"/>
              </a:rPr>
              <a:t> los </a:t>
            </a:r>
            <a:r>
              <a:rPr lang="en-US" dirty="0" err="1">
                <a:ea typeface="+mn-lt"/>
                <a:cs typeface="+mn-lt"/>
              </a:rPr>
              <a:t>valores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faltantes</a:t>
            </a:r>
            <a:r>
              <a:rPr lang="en-US" dirty="0">
                <a:ea typeface="+mn-lt"/>
                <a:cs typeface="+mn-lt"/>
              </a:rPr>
              <a:t>?</a:t>
            </a:r>
          </a:p>
          <a:p>
            <a:endParaRPr lang="en-US" dirty="0">
              <a:cs typeface="Calibri"/>
            </a:endParaRPr>
          </a:p>
          <a:p>
            <a:r>
              <a:rPr lang="en-US" dirty="0" err="1">
                <a:cs typeface="Calibri"/>
              </a:rPr>
              <a:t>Obtener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a </a:t>
            </a:r>
            <a:r>
              <a:rPr lang="en-US" dirty="0" err="1">
                <a:cs typeface="Calibri"/>
              </a:rPr>
              <a:t>partir</a:t>
            </a:r>
            <a:r>
              <a:rPr lang="en-US" dirty="0">
                <a:cs typeface="Calibri"/>
              </a:rPr>
              <a:t> de la </a:t>
            </a:r>
            <a:r>
              <a:rPr lang="en-US" dirty="0" err="1">
                <a:cs typeface="Calibri"/>
              </a:rPr>
              <a:t>columna</a:t>
            </a:r>
            <a:r>
              <a:rPr lang="en-US" dirty="0">
                <a:cs typeface="Calibri"/>
              </a:rPr>
              <a:t> description</a:t>
            </a: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En </a:t>
            </a:r>
            <a:r>
              <a:rPr lang="en-US" dirty="0" err="1">
                <a:cs typeface="Calibri"/>
              </a:rPr>
              <a:t>dicha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columna</a:t>
            </a:r>
            <a:r>
              <a:rPr lang="en-US" dirty="0">
                <a:cs typeface="Calibri"/>
              </a:rPr>
              <a:t> hay </a:t>
            </a:r>
            <a:r>
              <a:rPr lang="en-US" dirty="0" err="1">
                <a:cs typeface="Calibri"/>
              </a:rPr>
              <a:t>información</a:t>
            </a:r>
            <a:r>
              <a:rPr lang="en-US" dirty="0">
                <a:cs typeface="Calibri"/>
              </a:rPr>
              <a:t> general </a:t>
            </a:r>
            <a:r>
              <a:rPr lang="en-US" dirty="0" err="1">
                <a:cs typeface="Calibri"/>
              </a:rPr>
              <a:t>sobre</a:t>
            </a:r>
            <a:r>
              <a:rPr lang="en-US" dirty="0">
                <a:cs typeface="Calibri"/>
              </a:rPr>
              <a:t> la </a:t>
            </a:r>
            <a:r>
              <a:rPr lang="en-US" dirty="0" err="1">
                <a:cs typeface="Calibri"/>
              </a:rPr>
              <a:t>propiedad</a:t>
            </a:r>
            <a:r>
              <a:rPr lang="en-US" dirty="0">
                <a:cs typeface="Calibri"/>
              </a:rPr>
              <a:t>. </a:t>
            </a:r>
            <a:r>
              <a:rPr lang="en-US" dirty="0" err="1">
                <a:cs typeface="Calibri"/>
              </a:rPr>
              <a:t>Analizamos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su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contenido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ver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si</a:t>
            </a:r>
            <a:r>
              <a:rPr lang="en-US" dirty="0">
                <a:cs typeface="Calibri"/>
              </a:rPr>
              <a:t> </a:t>
            </a:r>
            <a:r>
              <a:rPr lang="en-US" dirty="0" err="1">
                <a:cs typeface="Calibri"/>
              </a:rPr>
              <a:t>contenía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información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útil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completar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otros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del data set. No </a:t>
            </a:r>
            <a:r>
              <a:rPr lang="en-US" dirty="0" err="1">
                <a:cs typeface="Calibri"/>
              </a:rPr>
              <a:t>siempre</a:t>
            </a:r>
            <a:r>
              <a:rPr lang="en-US" dirty="0">
                <a:cs typeface="Calibri"/>
              </a:rPr>
              <a:t> se </a:t>
            </a:r>
            <a:r>
              <a:rPr lang="en-US" dirty="0" err="1">
                <a:cs typeface="Calibri"/>
              </a:rPr>
              <a:t>hallaba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información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útil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pero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cuando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sí</a:t>
            </a:r>
            <a:r>
              <a:rPr lang="en-US" dirty="0">
                <a:cs typeface="Calibri"/>
              </a:rPr>
              <a:t>, la </a:t>
            </a:r>
            <a:r>
              <a:rPr lang="en-US" dirty="0" err="1">
                <a:cs typeface="Calibri"/>
              </a:rPr>
              <a:t>utilizamos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completar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faltantes</a:t>
            </a:r>
            <a:r>
              <a:rPr lang="en-US" dirty="0"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2295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 err="1">
                <a:cs typeface="Calibri"/>
              </a:rPr>
              <a:t>Información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adicional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utilizada</a:t>
            </a:r>
          </a:p>
          <a:p>
            <a:endParaRPr lang="en-US" dirty="0">
              <a:cs typeface="Calibri"/>
            </a:endParaRPr>
          </a:p>
          <a:p>
            <a:r>
              <a:rPr lang="en-US" dirty="0" err="1">
                <a:cs typeface="Calibri"/>
              </a:rPr>
              <a:t>Utilizamos</a:t>
            </a:r>
            <a:r>
              <a:rPr lang="en-US" dirty="0">
                <a:cs typeface="Calibri"/>
              </a:rPr>
              <a:t> la </a:t>
            </a:r>
            <a:r>
              <a:rPr lang="en-US" dirty="0" err="1">
                <a:cs typeface="Calibri"/>
              </a:rPr>
              <a:t>api</a:t>
            </a:r>
            <a:r>
              <a:rPr lang="en-US" dirty="0">
                <a:cs typeface="Calibri"/>
              </a:rPr>
              <a:t> del sitio </a:t>
            </a:r>
            <a:r>
              <a:rPr lang="en-US" dirty="0">
                <a:ea typeface="+mn-lt"/>
                <a:cs typeface="+mn-lt"/>
                <a:hlinkClick r:id="rId2"/>
              </a:rPr>
              <a:t>https://www.geonames.org/</a:t>
            </a:r>
            <a:r>
              <a:rPr lang="en-US" dirty="0">
                <a:ea typeface="+mn-lt"/>
                <a:cs typeface="+mn-lt"/>
              </a:rPr>
              <a:t> para </a:t>
            </a:r>
            <a:r>
              <a:rPr lang="en-US" dirty="0" err="1">
                <a:ea typeface="+mn-lt"/>
                <a:cs typeface="+mn-lt"/>
              </a:rPr>
              <a:t>obtener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coordenadas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representativas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cada</a:t>
            </a:r>
            <a:r>
              <a:rPr lang="en-US" dirty="0">
                <a:ea typeface="+mn-lt"/>
                <a:cs typeface="+mn-lt"/>
              </a:rPr>
              <a:t> zona.</a:t>
            </a:r>
          </a:p>
          <a:p>
            <a:endParaRPr lang="en-US" dirty="0">
              <a:ea typeface="+mn-lt"/>
              <a:cs typeface="+mn-lt"/>
            </a:endParaRPr>
          </a:p>
          <a:p>
            <a:r>
              <a:rPr lang="en-US" dirty="0" err="1">
                <a:ea typeface="+mn-lt"/>
                <a:cs typeface="+mn-lt"/>
              </a:rPr>
              <a:t>También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agregamos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datos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correspondientes</a:t>
            </a:r>
            <a:r>
              <a:rPr lang="en-US" dirty="0">
                <a:ea typeface="+mn-lt"/>
                <a:cs typeface="+mn-lt"/>
              </a:rPr>
              <a:t> a la </a:t>
            </a:r>
            <a:r>
              <a:rPr lang="en-US" dirty="0" err="1">
                <a:ea typeface="+mn-lt"/>
                <a:cs typeface="+mn-lt"/>
              </a:rPr>
              <a:t>conversión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monetaria</a:t>
            </a:r>
            <a:r>
              <a:rPr lang="en-US" dirty="0">
                <a:ea typeface="+mn-lt"/>
                <a:cs typeface="+mn-lt"/>
              </a:rPr>
              <a:t> entre </a:t>
            </a:r>
            <a:r>
              <a:rPr lang="en-US" dirty="0" err="1">
                <a:ea typeface="+mn-lt"/>
                <a:cs typeface="+mn-lt"/>
              </a:rPr>
              <a:t>monedas</a:t>
            </a:r>
            <a:r>
              <a:rPr lang="en-US" dirty="0">
                <a:ea typeface="+mn-lt"/>
                <a:cs typeface="+mn-lt"/>
              </a:rPr>
              <a:t> locales a USD</a:t>
            </a:r>
          </a:p>
        </p:txBody>
      </p:sp>
    </p:spTree>
    <p:extLst>
      <p:ext uri="{BB962C8B-B14F-4D97-AF65-F5344CB8AC3E}">
        <p14:creationId xmlns:p14="http://schemas.microsoft.com/office/powerpoint/2010/main" val="3233618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554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169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548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62</Words>
  <Application>Microsoft Office PowerPoint</Application>
  <PresentationFormat>Panorámica</PresentationFormat>
  <Paragraphs>16</Paragraphs>
  <Slides>15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6" baseType="lpstr"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usuario</dc:creator>
  <cp:lastModifiedBy>usuario</cp:lastModifiedBy>
  <cp:revision>398</cp:revision>
  <dcterms:created xsi:type="dcterms:W3CDTF">2020-03-30T18:28:40Z</dcterms:created>
  <dcterms:modified xsi:type="dcterms:W3CDTF">2020-03-31T16:08:31Z</dcterms:modified>
</cp:coreProperties>
</file>